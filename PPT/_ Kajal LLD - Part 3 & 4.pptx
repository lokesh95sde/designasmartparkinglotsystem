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y="5143500" cx="9144000"/>
  <p:notesSz cx="6858000" cy="9144000"/>
  <p:embeddedFontLst>
    <p:embeddedFont>
      <p:font typeface="Helvetica Neue"/>
      <p:regular r:id="rId61"/>
      <p:bold r:id="rId62"/>
      <p:italic r:id="rId63"/>
      <p:boldItalic r:id="rId64"/>
    </p:embeddedFont>
    <p:embeddedFont>
      <p:font typeface="Roboto Mono"/>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4C8B42-827A-42EF-B029-B172ED39D4E0}">
  <a:tblStyle styleId="{CF4C8B42-827A-42EF-B029-B172ED39D4E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HelveticaNeue-bold.fntdata"/><Relationship Id="rId61" Type="http://schemas.openxmlformats.org/officeDocument/2006/relationships/font" Target="fonts/HelveticaNeue-regular.fntdata"/><Relationship Id="rId20" Type="http://schemas.openxmlformats.org/officeDocument/2006/relationships/slide" Target="slides/slide14.xml"/><Relationship Id="rId64" Type="http://schemas.openxmlformats.org/officeDocument/2006/relationships/font" Target="fonts/HelveticaNeue-boldItalic.fntdata"/><Relationship Id="rId63" Type="http://schemas.openxmlformats.org/officeDocument/2006/relationships/font" Target="fonts/HelveticaNeue-italic.fntdata"/><Relationship Id="rId22" Type="http://schemas.openxmlformats.org/officeDocument/2006/relationships/slide" Target="slides/slide16.xml"/><Relationship Id="rId66" Type="http://schemas.openxmlformats.org/officeDocument/2006/relationships/font" Target="fonts/RobotoMono-bold.fntdata"/><Relationship Id="rId21" Type="http://schemas.openxmlformats.org/officeDocument/2006/relationships/slide" Target="slides/slide15.xml"/><Relationship Id="rId65" Type="http://schemas.openxmlformats.org/officeDocument/2006/relationships/font" Target="fonts/RobotoMono-regular.fntdata"/><Relationship Id="rId24" Type="http://schemas.openxmlformats.org/officeDocument/2006/relationships/slide" Target="slides/slide18.xml"/><Relationship Id="rId68" Type="http://schemas.openxmlformats.org/officeDocument/2006/relationships/font" Target="fonts/RobotoMono-boldItalic.fntdata"/><Relationship Id="rId23" Type="http://schemas.openxmlformats.org/officeDocument/2006/relationships/slide" Target="slides/slide17.xml"/><Relationship Id="rId67" Type="http://schemas.openxmlformats.org/officeDocument/2006/relationships/font" Target="fonts/RobotoMono-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556fe095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556fe095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7e44e59e0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7e44e59e0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7e44e59e0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7e44e59e0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c9fdc406a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c9fdc406a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7e44e59e0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7e44e59e0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8686f11f1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8686f11f1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c53e5ad7a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c53e5ad7a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53e5ad7a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c53e5ad7a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c53e5ad7ae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c53e5ad7ae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53e5ad7a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53e5ad7a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c53e5ad7a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c53e5ad7a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53e5ad7ae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53e5ad7ae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c53e5ad7ae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c53e5ad7ae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c53e5ad7a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c53e5ad7a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53e5ad7ae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53e5ad7a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c5ab5f50f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c5ab5f50f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c5ab5f50f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c5ab5f50f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c53e5ad7ae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c53e5ad7ae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c5ab5f50f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c5ab5f50f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c5ab5f50fd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c5ab5f50f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c53e5ad7ae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c53e5ad7ae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c5ab5f50f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c5ab5f50fd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c5ab5f50fd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c5ab5f50fd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c5ab5f50fd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c5ab5f50fd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c5ab5f50fd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c5ab5f50fd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c5ab5f50fd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c5ab5f50fd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c5ab5f50fd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c5ab5f50f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c5ab5f50fd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c5ab5f50fd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c5ab5f50fd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c5ab5f50fd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c5ab5f50fd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c5ab5f50fd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d9f3bc4b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d9f3bc4b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d9f3bc4b9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d9f3bc4b9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d9f3bc4b96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d9f3bc4b96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d9f3bc4b96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d9f3bc4b96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9f3bc4b96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d9f3bc4b96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d9f3bc4b96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d9f3bc4b96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d9f3bc4b9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d9f3bc4b9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9f3bc4b9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d9f3bc4b9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d9f3bc4b9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d9f3bc4b9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d9f3bc4b96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d9f3bc4b96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d9f3bc4b9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d9f3bc4b9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d9f3bc4b9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d9f3bc4b9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e49ac7fe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de49ac7fe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de38bd563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de38bd56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d9f3bc4b96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d9f3bc4b96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de38bd563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de38bd563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d9f3bc4b96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d9f3bc4b96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de38bd563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de38bd563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de38bd563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de38bd563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d9f3bc4b96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d9f3bc4b96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de49ac7fe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de49ac7fe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8686f11f13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8686f11f13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7e44e59e0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7e44e59e0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20.png"/><Relationship Id="rId5" Type="http://schemas.openxmlformats.org/officeDocument/2006/relationships/image" Target="../media/image11.png"/><Relationship Id="rId6" Type="http://schemas.openxmlformats.org/officeDocument/2006/relationships/image" Target="../media/image2.png"/><Relationship Id="rId7"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8.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8.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7.png"/><Relationship Id="rId4" Type="http://schemas.openxmlformats.org/officeDocument/2006/relationships/image" Target="../media/image26.png"/><Relationship Id="rId5" Type="http://schemas.openxmlformats.org/officeDocument/2006/relationships/image" Target="../media/image25.png"/><Relationship Id="rId6"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4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0.png"/><Relationship Id="rId4" Type="http://schemas.openxmlformats.org/officeDocument/2006/relationships/image" Target="../media/image32.png"/><Relationship Id="rId5" Type="http://schemas.openxmlformats.org/officeDocument/2006/relationships/image" Target="../media/image37.png"/><Relationship Id="rId6"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44.png"/><Relationship Id="rId6" Type="http://schemas.openxmlformats.org/officeDocument/2006/relationships/image" Target="../media/image42.png"/><Relationship Id="rId7" Type="http://schemas.openxmlformats.org/officeDocument/2006/relationships/image" Target="../media/image5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5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5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nvSpPr>
        <p:spPr>
          <a:xfrm>
            <a:off x="0" y="1130225"/>
            <a:ext cx="44061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400">
                <a:solidFill>
                  <a:schemeClr val="dk1"/>
                </a:solidFill>
              </a:rPr>
              <a:t>Introduction &amp; The Big Picture</a:t>
            </a:r>
            <a:endParaRPr sz="2400">
              <a:solidFill>
                <a:schemeClr val="dk1"/>
              </a:solidFill>
            </a:endParaRPr>
          </a:p>
        </p:txBody>
      </p:sp>
      <p:sp>
        <p:nvSpPr>
          <p:cNvPr id="55" name="Google Shape;55;p13"/>
          <p:cNvSpPr txBox="1"/>
          <p:nvPr/>
        </p:nvSpPr>
        <p:spPr>
          <a:xfrm>
            <a:off x="165900" y="1817320"/>
            <a:ext cx="4406100" cy="29553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100"/>
              </a:spcBef>
              <a:spcAft>
                <a:spcPts val="0"/>
              </a:spcAft>
              <a:buClr>
                <a:schemeClr val="dk1"/>
              </a:buClr>
              <a:buSzPts val="1800"/>
              <a:buChar char="●"/>
            </a:pPr>
            <a:r>
              <a:rPr lang="en-GB" sz="1800">
                <a:solidFill>
                  <a:schemeClr val="dk1"/>
                </a:solidFill>
              </a:rPr>
              <a:t>Why System Design?</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GB" sz="1800">
                <a:solidFill>
                  <a:schemeClr val="dk1"/>
                </a:solidFill>
              </a:rPr>
              <a:t>HLD vs LLD</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GB" sz="1800">
                <a:solidFill>
                  <a:schemeClr val="dk1"/>
                </a:solidFill>
              </a:rPr>
              <a:t>Requirement Gathering</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GB" sz="1800">
                <a:solidFill>
                  <a:schemeClr val="dk1"/>
                </a:solidFill>
              </a:rPr>
              <a:t>OOP Analysis</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GB" sz="1800">
                <a:solidFill>
                  <a:schemeClr val="dk1"/>
                </a:solidFill>
              </a:rPr>
              <a:t>SOLID Principles</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GB" sz="1800">
                <a:solidFill>
                  <a:schemeClr val="dk1"/>
                </a:solidFill>
              </a:rPr>
              <a:t>Synchronization</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GB" sz="1800">
                <a:solidFill>
                  <a:schemeClr val="dk1"/>
                </a:solidFill>
              </a:rPr>
              <a:t>Case Study</a:t>
            </a:r>
            <a:endParaRPr sz="1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nvSpPr>
        <p:spPr>
          <a:xfrm>
            <a:off x="988775" y="14451125"/>
            <a:ext cx="15972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b="1" sz="1000">
              <a:solidFill>
                <a:schemeClr val="dk1"/>
              </a:solidFill>
              <a:latin typeface="Helvetica Neue"/>
              <a:ea typeface="Helvetica Neue"/>
              <a:cs typeface="Helvetica Neue"/>
              <a:sym typeface="Helvetica Neue"/>
            </a:endParaRPr>
          </a:p>
        </p:txBody>
      </p:sp>
      <p:sp>
        <p:nvSpPr>
          <p:cNvPr id="61" name="Google Shape;61;p14"/>
          <p:cNvSpPr/>
          <p:nvPr/>
        </p:nvSpPr>
        <p:spPr>
          <a:xfrm>
            <a:off x="551375" y="674051"/>
            <a:ext cx="3598833" cy="352301"/>
          </a:xfrm>
          <a:prstGeom prst="rect">
            <a:avLst/>
          </a:prstGeom>
        </p:spPr>
        <p:txBody>
          <a:bodyPr>
            <a:prstTxWarp prst="textPlain"/>
          </a:bodyPr>
          <a:lstStyle/>
          <a:p>
            <a:pPr lvl="0" algn="ctr"/>
            <a:r>
              <a:rPr b="0" i="0">
                <a:ln>
                  <a:noFill/>
                </a:ln>
                <a:solidFill>
                  <a:srgbClr val="05A98A"/>
                </a:solidFill>
                <a:latin typeface="Helvetica Neue"/>
              </a:rPr>
              <a:t>Meet your instructor</a:t>
            </a:r>
          </a:p>
        </p:txBody>
      </p:sp>
      <p:sp>
        <p:nvSpPr>
          <p:cNvPr id="62" name="Google Shape;62;p14"/>
          <p:cNvSpPr txBox="1"/>
          <p:nvPr/>
        </p:nvSpPr>
        <p:spPr>
          <a:xfrm>
            <a:off x="378125" y="1026350"/>
            <a:ext cx="4932000" cy="362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GB" sz="1500">
                <a:solidFill>
                  <a:schemeClr val="dk1"/>
                </a:solidFill>
                <a:latin typeface="Helvetica Neue"/>
                <a:ea typeface="Helvetica Neue"/>
                <a:cs typeface="Helvetica Neue"/>
                <a:sym typeface="Helvetica Neue"/>
              </a:rPr>
              <a:t>Kajal is currently working as an SDE 3 at Airtel Payments Bank, where she builds scalable backend systems and innovative software solutions. She has strong expertise in Spring Boot, Redis, Apache Kafka, Microservices, and MySQL. With hands-on industry experience in designing high-performance backend architectures, Kajal is passionate about mentoring aspiring engineers and sharing practical insights into building robust, real-world backend systems.</a:t>
            </a:r>
            <a:endParaRPr b="1" sz="1500">
              <a:solidFill>
                <a:schemeClr val="dk1"/>
              </a:solidFill>
              <a:latin typeface="Helvetica Neue"/>
              <a:ea typeface="Helvetica Neue"/>
              <a:cs typeface="Helvetica Neue"/>
              <a:sym typeface="Helvetica Neue"/>
            </a:endParaRPr>
          </a:p>
          <a:p>
            <a:pPr indent="0" lvl="0" marL="0" rtl="0" algn="l">
              <a:lnSpc>
                <a:spcPct val="115000"/>
              </a:lnSpc>
              <a:spcBef>
                <a:spcPts val="1200"/>
              </a:spcBef>
              <a:spcAft>
                <a:spcPts val="0"/>
              </a:spcAft>
              <a:buNone/>
            </a:pPr>
            <a:r>
              <a:t/>
            </a:r>
            <a:endParaRPr b="1" sz="1800">
              <a:solidFill>
                <a:schemeClr val="dk1"/>
              </a:solidFill>
              <a:latin typeface="Helvetica Neue"/>
              <a:ea typeface="Helvetica Neue"/>
              <a:cs typeface="Helvetica Neue"/>
              <a:sym typeface="Helvetica Neue"/>
            </a:endParaRPr>
          </a:p>
          <a:p>
            <a:pPr indent="0" lvl="0" marL="0" rtl="0" algn="l">
              <a:lnSpc>
                <a:spcPct val="115000"/>
              </a:lnSpc>
              <a:spcBef>
                <a:spcPts val="1200"/>
              </a:spcBef>
              <a:spcAft>
                <a:spcPts val="1200"/>
              </a:spcAft>
              <a:buNone/>
            </a:pPr>
            <a:r>
              <a:t/>
            </a:r>
            <a:endParaRPr b="1" sz="1000">
              <a:solidFill>
                <a:schemeClr val="dk1"/>
              </a:solidFill>
              <a:latin typeface="Helvetica Neue"/>
              <a:ea typeface="Helvetica Neue"/>
              <a:cs typeface="Helvetica Neue"/>
              <a:sym typeface="Helvetica Neue"/>
            </a:endParaRPr>
          </a:p>
        </p:txBody>
      </p:sp>
      <p:sp>
        <p:nvSpPr>
          <p:cNvPr id="63" name="Google Shape;63;p14"/>
          <p:cNvSpPr txBox="1"/>
          <p:nvPr/>
        </p:nvSpPr>
        <p:spPr>
          <a:xfrm>
            <a:off x="5542750" y="4204050"/>
            <a:ext cx="30000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500"/>
              <a:t>Kajal Glotra</a:t>
            </a:r>
            <a:br>
              <a:rPr b="1" lang="en-GB" sz="1500"/>
            </a:br>
            <a:r>
              <a:rPr b="1" lang="en-GB" sz="1500"/>
              <a:t>SDE - III @</a:t>
            </a:r>
            <a:endParaRPr b="1" sz="1500"/>
          </a:p>
        </p:txBody>
      </p:sp>
      <p:pic>
        <p:nvPicPr>
          <p:cNvPr id="64" name="Google Shape;64;p14"/>
          <p:cNvPicPr preferRelativeResize="0"/>
          <p:nvPr/>
        </p:nvPicPr>
        <p:blipFill>
          <a:blip r:embed="rId4">
            <a:alphaModFix/>
          </a:blip>
          <a:stretch>
            <a:fillRect/>
          </a:stretch>
        </p:blipFill>
        <p:spPr>
          <a:xfrm>
            <a:off x="5627325" y="1085075"/>
            <a:ext cx="2571750" cy="2971000"/>
          </a:xfrm>
          <a:prstGeom prst="rect">
            <a:avLst/>
          </a:prstGeom>
          <a:noFill/>
          <a:ln>
            <a:noFill/>
          </a:ln>
        </p:spPr>
      </p:pic>
      <p:pic>
        <p:nvPicPr>
          <p:cNvPr id="65" name="Google Shape;65;p14"/>
          <p:cNvPicPr preferRelativeResize="0"/>
          <p:nvPr/>
        </p:nvPicPr>
        <p:blipFill>
          <a:blip r:embed="rId5">
            <a:alphaModFix/>
          </a:blip>
          <a:stretch>
            <a:fillRect/>
          </a:stretch>
        </p:blipFill>
        <p:spPr>
          <a:xfrm>
            <a:off x="7649400" y="4498250"/>
            <a:ext cx="352300" cy="352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 name="Shape 69"/>
        <p:cNvGrpSpPr/>
        <p:nvPr/>
      </p:nvGrpSpPr>
      <p:grpSpPr>
        <a:xfrm>
          <a:off x="0" y="0"/>
          <a:ext cx="0" cy="0"/>
          <a:chOff x="0" y="0"/>
          <a:chExt cx="0" cy="0"/>
        </a:xfrm>
      </p:grpSpPr>
      <p:sp>
        <p:nvSpPr>
          <p:cNvPr id="70" name="Google Shape;70;p15"/>
          <p:cNvSpPr txBox="1"/>
          <p:nvPr/>
        </p:nvSpPr>
        <p:spPr>
          <a:xfrm>
            <a:off x="213725" y="641750"/>
            <a:ext cx="8285700" cy="441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System design helps us </a:t>
            </a:r>
            <a:r>
              <a:rPr b="1" lang="en-GB" sz="1100">
                <a:solidFill>
                  <a:schemeClr val="dk1"/>
                </a:solidFill>
              </a:rPr>
              <a:t>build scalable, maintainable, and reliable software systems</a:t>
            </a:r>
            <a:r>
              <a:rPr lang="en-GB" sz="1100">
                <a:solidFill>
                  <a:schemeClr val="dk1"/>
                </a:solidFill>
              </a:rPr>
              <a:t> instead of writing random code.</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Without design, systems become </a:t>
            </a:r>
            <a:r>
              <a:rPr b="1" lang="en-GB" sz="1100">
                <a:solidFill>
                  <a:schemeClr val="dk1"/>
                </a:solidFill>
              </a:rPr>
              <a:t>messy, slow, and hard to maintain</a:t>
            </a:r>
            <a:r>
              <a:rPr lang="en-GB"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1️⃣ To Handle Large Scale Systems</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2️⃣ To Manage System Complexity</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3️⃣ To Improve Scalability</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4️⃣ To Ensure Maintainability</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5️⃣ To Improve Performance</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6️⃣ To Handle Concurrency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7️⃣ To Build Reliable Systems</a:t>
            </a:r>
            <a:endParaRPr sz="1100">
              <a:solidFill>
                <a:schemeClr val="dk1"/>
              </a:solidFill>
            </a:endParaRPr>
          </a:p>
          <a:p>
            <a:pPr indent="0" lvl="0" marL="0" rtl="0" algn="l">
              <a:lnSpc>
                <a:spcPct val="115000"/>
              </a:lnSpc>
              <a:spcBef>
                <a:spcPts val="1200"/>
              </a:spcBef>
              <a:spcAft>
                <a:spcPts val="1200"/>
              </a:spcAft>
              <a:buNone/>
            </a:pPr>
            <a:r>
              <a:t/>
            </a:r>
            <a:endParaRPr b="1" sz="2000">
              <a:solidFill>
                <a:schemeClr val="dk1"/>
              </a:solidFill>
              <a:latin typeface="Helvetica Neue"/>
              <a:ea typeface="Helvetica Neue"/>
              <a:cs typeface="Helvetica Neue"/>
              <a:sym typeface="Helvetica Neue"/>
            </a:endParaRPr>
          </a:p>
        </p:txBody>
      </p:sp>
      <p:sp>
        <p:nvSpPr>
          <p:cNvPr id="71" name="Google Shape;71;p15"/>
          <p:cNvSpPr txBox="1"/>
          <p:nvPr/>
        </p:nvSpPr>
        <p:spPr>
          <a:xfrm>
            <a:off x="172400" y="11495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Why Do We Need System Design?</a:t>
            </a:r>
            <a:endParaRPr sz="2800">
              <a:solidFill>
                <a:srgbClr val="8E7CC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Google Shape;76;p16"/>
          <p:cNvSpPr txBox="1"/>
          <p:nvPr/>
        </p:nvSpPr>
        <p:spPr>
          <a:xfrm>
            <a:off x="472075" y="0"/>
            <a:ext cx="7975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High Level Design VS Low Level Design  </a:t>
            </a:r>
            <a:endParaRPr sz="2800">
              <a:solidFill>
                <a:srgbClr val="8E7CC3"/>
              </a:solidFill>
            </a:endParaRPr>
          </a:p>
        </p:txBody>
      </p:sp>
      <p:graphicFrame>
        <p:nvGraphicFramePr>
          <p:cNvPr id="77" name="Google Shape;77;p16"/>
          <p:cNvGraphicFramePr/>
          <p:nvPr/>
        </p:nvGraphicFramePr>
        <p:xfrm>
          <a:off x="363125" y="845450"/>
          <a:ext cx="3000000" cy="3000000"/>
        </p:xfrm>
        <a:graphic>
          <a:graphicData uri="http://schemas.openxmlformats.org/drawingml/2006/table">
            <a:tbl>
              <a:tblPr>
                <a:noFill/>
                <a:tableStyleId>{CF4C8B42-827A-42EF-B029-B172ED39D4E0}</a:tableStyleId>
              </a:tblPr>
              <a:tblGrid>
                <a:gridCol w="1495425"/>
                <a:gridCol w="2990850"/>
                <a:gridCol w="3200400"/>
              </a:tblGrid>
              <a:tr h="409950">
                <a:tc>
                  <a:txBody>
                    <a:bodyPr/>
                    <a:lstStyle/>
                    <a:p>
                      <a:pPr indent="0" lvl="0" marL="0" rtl="0" algn="l">
                        <a:lnSpc>
                          <a:spcPct val="115000"/>
                        </a:lnSpc>
                        <a:spcBef>
                          <a:spcPts val="0"/>
                        </a:spcBef>
                        <a:spcAft>
                          <a:spcPts val="0"/>
                        </a:spcAft>
                        <a:buNone/>
                      </a:pPr>
                      <a:r>
                        <a:rPr b="1" lang="en-GB" sz="1100">
                          <a:solidFill>
                            <a:srgbClr val="1F1F1F"/>
                          </a:solidFill>
                        </a:rPr>
                        <a:t>Feature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GB" sz="1100">
                          <a:solidFill>
                            <a:srgbClr val="1F1F1F"/>
                          </a:solidFill>
                        </a:rPr>
                        <a:t>High-Level Design (HLD)</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GB" sz="1100">
                          <a:solidFill>
                            <a:srgbClr val="1F1F1F"/>
                          </a:solidFill>
                        </a:rPr>
                        <a:t>Low-Level Design (LLD)</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409950">
                <a:tc>
                  <a:txBody>
                    <a:bodyPr/>
                    <a:lstStyle/>
                    <a:p>
                      <a:pPr indent="0" lvl="0" marL="0" rtl="0" algn="l">
                        <a:lnSpc>
                          <a:spcPct val="115000"/>
                        </a:lnSpc>
                        <a:spcBef>
                          <a:spcPts val="0"/>
                        </a:spcBef>
                        <a:spcAft>
                          <a:spcPts val="0"/>
                        </a:spcAft>
                        <a:buNone/>
                      </a:pPr>
                      <a:r>
                        <a:rPr b="1" lang="en-GB" sz="1100">
                          <a:solidFill>
                            <a:srgbClr val="1F1F1F"/>
                          </a:solidFill>
                        </a:rPr>
                        <a:t>Alternative Name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System Design / Macro Design</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Detailed Design / Micro Design</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409950">
                <a:tc>
                  <a:txBody>
                    <a:bodyPr/>
                    <a:lstStyle/>
                    <a:p>
                      <a:pPr indent="0" lvl="0" marL="0" rtl="0" algn="l">
                        <a:lnSpc>
                          <a:spcPct val="115000"/>
                        </a:lnSpc>
                        <a:spcBef>
                          <a:spcPts val="0"/>
                        </a:spcBef>
                        <a:spcAft>
                          <a:spcPts val="0"/>
                        </a:spcAft>
                        <a:buNone/>
                      </a:pPr>
                      <a:r>
                        <a:rPr b="1" lang="en-GB" sz="1100">
                          <a:solidFill>
                            <a:srgbClr val="1F1F1F"/>
                          </a:solidFill>
                        </a:rPr>
                        <a:t>Primary Goal</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Define the architecture and components.</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Define the internal logic and class structure.</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409950">
                <a:tc>
                  <a:txBody>
                    <a:bodyPr/>
                    <a:lstStyle/>
                    <a:p>
                      <a:pPr indent="0" lvl="0" marL="0" rtl="0" algn="l">
                        <a:lnSpc>
                          <a:spcPct val="115000"/>
                        </a:lnSpc>
                        <a:spcBef>
                          <a:spcPts val="0"/>
                        </a:spcBef>
                        <a:spcAft>
                          <a:spcPts val="0"/>
                        </a:spcAft>
                        <a:buNone/>
                      </a:pPr>
                      <a:r>
                        <a:rPr b="1" lang="en-GB" sz="1100">
                          <a:solidFill>
                            <a:srgbClr val="1F1F1F"/>
                          </a:solidFill>
                        </a:rPr>
                        <a:t>Scope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Entire System / Multiple Services.</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Individual Module / Component.</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409950">
                <a:tc>
                  <a:txBody>
                    <a:bodyPr/>
                    <a:lstStyle/>
                    <a:p>
                      <a:pPr indent="0" lvl="0" marL="0" rtl="0" algn="l">
                        <a:lnSpc>
                          <a:spcPct val="115000"/>
                        </a:lnSpc>
                        <a:spcBef>
                          <a:spcPts val="0"/>
                        </a:spcBef>
                        <a:spcAft>
                          <a:spcPts val="0"/>
                        </a:spcAft>
                        <a:buNone/>
                      </a:pPr>
                      <a:r>
                        <a:rPr b="1" lang="en-GB" sz="1100">
                          <a:solidFill>
                            <a:srgbClr val="1F1F1F"/>
                          </a:solidFill>
                        </a:rPr>
                        <a:t>Components</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Databases, Queues, Caches, APIs.</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Classes, Methods, Attributes, Loops.</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409950">
                <a:tc>
                  <a:txBody>
                    <a:bodyPr/>
                    <a:lstStyle/>
                    <a:p>
                      <a:pPr indent="0" lvl="0" marL="0" rtl="0" algn="l">
                        <a:lnSpc>
                          <a:spcPct val="115000"/>
                        </a:lnSpc>
                        <a:spcBef>
                          <a:spcPts val="0"/>
                        </a:spcBef>
                        <a:spcAft>
                          <a:spcPts val="0"/>
                        </a:spcAft>
                        <a:buNone/>
                      </a:pPr>
                      <a:r>
                        <a:rPr b="1" lang="en-GB" sz="1100">
                          <a:solidFill>
                            <a:srgbClr val="1F1F1F"/>
                          </a:solidFill>
                        </a:rPr>
                        <a:t>Outcome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Architecture Diagram.</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Class Diagram / Sequence Diagram.</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409950">
                <a:tc>
                  <a:txBody>
                    <a:bodyPr/>
                    <a:lstStyle/>
                    <a:p>
                      <a:pPr indent="0" lvl="0" marL="0" rtl="0" algn="l">
                        <a:lnSpc>
                          <a:spcPct val="115000"/>
                        </a:lnSpc>
                        <a:spcBef>
                          <a:spcPts val="0"/>
                        </a:spcBef>
                        <a:spcAft>
                          <a:spcPts val="0"/>
                        </a:spcAft>
                        <a:buNone/>
                      </a:pPr>
                      <a:r>
                        <a:rPr b="1" lang="en-GB" sz="1100">
                          <a:solidFill>
                            <a:srgbClr val="1F1F1F"/>
                          </a:solidFill>
                        </a:rPr>
                        <a:t>Conclusion </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How do these systems talk to each other?</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How does the code work inside one system?</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409950">
                <a:tc>
                  <a:txBody>
                    <a:bodyPr/>
                    <a:lstStyle/>
                    <a:p>
                      <a:pPr indent="0" lvl="0" marL="0" rtl="0" algn="l">
                        <a:lnSpc>
                          <a:spcPct val="115000"/>
                        </a:lnSpc>
                        <a:spcBef>
                          <a:spcPts val="0"/>
                        </a:spcBef>
                        <a:spcAft>
                          <a:spcPts val="0"/>
                        </a:spcAft>
                        <a:buNone/>
                      </a:pPr>
                      <a:r>
                        <a:rPr b="1" lang="en-GB" sz="1100">
                          <a:solidFill>
                            <a:srgbClr val="1F1F1F"/>
                          </a:solidFill>
                        </a:rPr>
                        <a:t>Words </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Scale, load, system down, bottlenecks </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Classes, logic, Relationships</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 name="Shape 81"/>
        <p:cNvGrpSpPr/>
        <p:nvPr/>
      </p:nvGrpSpPr>
      <p:grpSpPr>
        <a:xfrm>
          <a:off x="0" y="0"/>
          <a:ext cx="0" cy="0"/>
          <a:chOff x="0" y="0"/>
          <a:chExt cx="0" cy="0"/>
        </a:xfrm>
      </p:grpSpPr>
      <p:sp>
        <p:nvSpPr>
          <p:cNvPr id="82" name="Google Shape;82;p17"/>
          <p:cNvSpPr txBox="1"/>
          <p:nvPr/>
        </p:nvSpPr>
        <p:spPr>
          <a:xfrm>
            <a:off x="577775" y="650575"/>
            <a:ext cx="81471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00"/>
              </a:spcBef>
              <a:spcAft>
                <a:spcPts val="100"/>
              </a:spcAft>
              <a:buNone/>
            </a:pPr>
            <a:r>
              <a:t/>
            </a:r>
            <a:endParaRPr sz="1200">
              <a:solidFill>
                <a:schemeClr val="dk1"/>
              </a:solidFill>
              <a:latin typeface="Helvetica Neue"/>
              <a:ea typeface="Helvetica Neue"/>
              <a:cs typeface="Helvetica Neue"/>
              <a:sym typeface="Helvetica Neue"/>
            </a:endParaRPr>
          </a:p>
        </p:txBody>
      </p:sp>
      <p:sp>
        <p:nvSpPr>
          <p:cNvPr id="83" name="Google Shape;83;p17"/>
          <p:cNvSpPr txBox="1"/>
          <p:nvPr/>
        </p:nvSpPr>
        <p:spPr>
          <a:xfrm>
            <a:off x="395450" y="34975"/>
            <a:ext cx="6247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HLD(Architecture)</a:t>
            </a:r>
            <a:endParaRPr sz="2800">
              <a:solidFill>
                <a:srgbClr val="8E7CC3"/>
              </a:solidFill>
            </a:endParaRPr>
          </a:p>
        </p:txBody>
      </p:sp>
      <p:pic>
        <p:nvPicPr>
          <p:cNvPr id="84" name="Google Shape;84;p17"/>
          <p:cNvPicPr preferRelativeResize="0"/>
          <p:nvPr/>
        </p:nvPicPr>
        <p:blipFill>
          <a:blip r:embed="rId4">
            <a:alphaModFix/>
          </a:blip>
          <a:stretch>
            <a:fillRect/>
          </a:stretch>
        </p:blipFill>
        <p:spPr>
          <a:xfrm>
            <a:off x="287350" y="110475"/>
            <a:ext cx="6790948" cy="488062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8"/>
          <p:cNvSpPr txBox="1"/>
          <p:nvPr/>
        </p:nvSpPr>
        <p:spPr>
          <a:xfrm>
            <a:off x="377725" y="1314150"/>
            <a:ext cx="7055100" cy="461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00"/>
              </a:spcBef>
              <a:spcAft>
                <a:spcPts val="100"/>
              </a:spcAft>
              <a:buNone/>
            </a:pPr>
            <a:r>
              <a:t/>
            </a:r>
            <a:endParaRPr sz="1800">
              <a:solidFill>
                <a:schemeClr val="dk1"/>
              </a:solidFill>
            </a:endParaRPr>
          </a:p>
        </p:txBody>
      </p:sp>
      <p:sp>
        <p:nvSpPr>
          <p:cNvPr id="90" name="Google Shape;90;p18"/>
          <p:cNvSpPr txBox="1"/>
          <p:nvPr/>
        </p:nvSpPr>
        <p:spPr>
          <a:xfrm>
            <a:off x="765650" y="415700"/>
            <a:ext cx="6007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LLD(Components Implementation)</a:t>
            </a:r>
            <a:endParaRPr sz="2800">
              <a:solidFill>
                <a:srgbClr val="8E7CC3"/>
              </a:solidFill>
            </a:endParaRPr>
          </a:p>
        </p:txBody>
      </p:sp>
      <p:pic>
        <p:nvPicPr>
          <p:cNvPr id="91" name="Google Shape;91;p18"/>
          <p:cNvPicPr preferRelativeResize="0"/>
          <p:nvPr/>
        </p:nvPicPr>
        <p:blipFill>
          <a:blip r:embed="rId4">
            <a:alphaModFix/>
          </a:blip>
          <a:stretch>
            <a:fillRect/>
          </a:stretch>
        </p:blipFill>
        <p:spPr>
          <a:xfrm>
            <a:off x="1387975" y="1040325"/>
            <a:ext cx="6494899" cy="39020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 name="Shape 95"/>
        <p:cNvGrpSpPr/>
        <p:nvPr/>
      </p:nvGrpSpPr>
      <p:grpSpPr>
        <a:xfrm>
          <a:off x="0" y="0"/>
          <a:ext cx="0" cy="0"/>
          <a:chOff x="0" y="0"/>
          <a:chExt cx="0" cy="0"/>
        </a:xfrm>
      </p:grpSpPr>
      <p:sp>
        <p:nvSpPr>
          <p:cNvPr id="96" name="Google Shape;96;p19"/>
          <p:cNvSpPr txBox="1"/>
          <p:nvPr/>
        </p:nvSpPr>
        <p:spPr>
          <a:xfrm>
            <a:off x="377725" y="1314150"/>
            <a:ext cx="7055100" cy="354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00"/>
              </a:spcBef>
              <a:spcAft>
                <a:spcPts val="100"/>
              </a:spcAft>
              <a:buNone/>
            </a:pPr>
            <a:r>
              <a:t/>
            </a:r>
            <a:endParaRPr b="1" sz="1100">
              <a:latin typeface="Helvetica Neue"/>
              <a:ea typeface="Helvetica Neue"/>
              <a:cs typeface="Helvetica Neue"/>
              <a:sym typeface="Helvetica Neue"/>
            </a:endParaRPr>
          </a:p>
        </p:txBody>
      </p:sp>
      <p:sp>
        <p:nvSpPr>
          <p:cNvPr id="97" name="Google Shape;97;p19"/>
          <p:cNvSpPr/>
          <p:nvPr/>
        </p:nvSpPr>
        <p:spPr>
          <a:xfrm>
            <a:off x="466400" y="4368575"/>
            <a:ext cx="7055100" cy="615600"/>
          </a:xfrm>
          <a:prstGeom prst="roundRect">
            <a:avLst>
              <a:gd fmla="val 16667" name="adj"/>
            </a:avLst>
          </a:prstGeom>
          <a:solidFill>
            <a:srgbClr val="EEF2FF"/>
          </a:solidFill>
          <a:ln cap="flat" cmpd="sng" w="8100">
            <a:solidFill>
              <a:srgbClr val="C7D2FE"/>
            </a:solidFill>
            <a:prstDash val="solid"/>
            <a:round/>
            <a:headEnd len="sm" w="sm" type="none"/>
            <a:tailEnd len="sm" w="sm" type="none"/>
          </a:ln>
        </p:spPr>
        <p:txBody>
          <a:bodyPr anchorCtr="0" anchor="ctr" bIns="58300" lIns="58300" spcFirstLastPara="1" rIns="58300" wrap="square" tIns="58300">
            <a:noAutofit/>
          </a:bodyPr>
          <a:lstStyle/>
          <a:p>
            <a:pPr indent="0" lvl="0" marL="0" rtl="0" algn="l">
              <a:spcBef>
                <a:spcPts val="0"/>
              </a:spcBef>
              <a:spcAft>
                <a:spcPts val="0"/>
              </a:spcAft>
              <a:buNone/>
            </a:pPr>
            <a:r>
              <a:rPr lang="en-GB" sz="893"/>
              <a:t>Lets see different types of requirements for different systems like parking lot, movie ticket booking system, food delivery application e</a:t>
            </a:r>
            <a:r>
              <a:rPr lang="en-GB" sz="893"/>
              <a:t>tc.</a:t>
            </a:r>
            <a:r>
              <a:rPr lang="en-GB" sz="893"/>
              <a:t> </a:t>
            </a:r>
            <a:endParaRPr sz="893"/>
          </a:p>
        </p:txBody>
      </p:sp>
      <p:sp>
        <p:nvSpPr>
          <p:cNvPr id="98" name="Google Shape;98;p19"/>
          <p:cNvSpPr/>
          <p:nvPr/>
        </p:nvSpPr>
        <p:spPr>
          <a:xfrm>
            <a:off x="641319" y="4051390"/>
            <a:ext cx="6705300" cy="204000"/>
          </a:xfrm>
          <a:prstGeom prst="rect">
            <a:avLst/>
          </a:prstGeom>
          <a:noFill/>
          <a:ln>
            <a:noFill/>
          </a:ln>
        </p:spPr>
        <p:txBody>
          <a:bodyPr anchorCtr="0" anchor="ctr" bIns="29125" lIns="58300" spcFirstLastPara="1" rIns="58300" wrap="square" tIns="29125">
            <a:noAutofit/>
          </a:bodyPr>
          <a:lstStyle/>
          <a:p>
            <a:pPr indent="0" lvl="0" marL="0" marR="0" rtl="0" algn="l">
              <a:spcBef>
                <a:spcPts val="0"/>
              </a:spcBef>
              <a:spcAft>
                <a:spcPts val="0"/>
              </a:spcAft>
              <a:buClr>
                <a:srgbClr val="1F2937"/>
              </a:buClr>
              <a:buSzPts val="1148"/>
              <a:buFont typeface="Calibri"/>
              <a:buNone/>
            </a:pPr>
            <a:r>
              <a:t/>
            </a:r>
            <a:endParaRPr b="0" i="0" sz="1448" u="none" cap="none" strike="noStrike">
              <a:solidFill>
                <a:srgbClr val="000000"/>
              </a:solidFill>
              <a:latin typeface="Calibri"/>
              <a:ea typeface="Calibri"/>
              <a:cs typeface="Calibri"/>
              <a:sym typeface="Calibri"/>
            </a:endParaRPr>
          </a:p>
        </p:txBody>
      </p:sp>
      <p:sp>
        <p:nvSpPr>
          <p:cNvPr id="99" name="Google Shape;99;p19"/>
          <p:cNvSpPr txBox="1"/>
          <p:nvPr/>
        </p:nvSpPr>
        <p:spPr>
          <a:xfrm>
            <a:off x="169275" y="124525"/>
            <a:ext cx="7055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Phase 1 - Requirement Gathering</a:t>
            </a:r>
            <a:endParaRPr sz="2800">
              <a:solidFill>
                <a:srgbClr val="8E7CC3"/>
              </a:solidFill>
            </a:endParaRPr>
          </a:p>
        </p:txBody>
      </p:sp>
      <p:pic>
        <p:nvPicPr>
          <p:cNvPr id="100" name="Google Shape;100;p19"/>
          <p:cNvPicPr preferRelativeResize="0"/>
          <p:nvPr/>
        </p:nvPicPr>
        <p:blipFill>
          <a:blip r:embed="rId4">
            <a:alphaModFix/>
          </a:blip>
          <a:stretch>
            <a:fillRect/>
          </a:stretch>
        </p:blipFill>
        <p:spPr>
          <a:xfrm>
            <a:off x="1149375" y="919500"/>
            <a:ext cx="6790974" cy="3015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0"/>
            <a:ext cx="8520600" cy="62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8E7CC3"/>
                </a:solidFill>
              </a:rPr>
              <a:t>Requirements for Parking Lot System </a:t>
            </a:r>
            <a:endParaRPr/>
          </a:p>
        </p:txBody>
      </p:sp>
      <p:sp>
        <p:nvSpPr>
          <p:cNvPr id="106" name="Google Shape;106;p20"/>
          <p:cNvSpPr txBox="1"/>
          <p:nvPr>
            <p:ph idx="1" type="body"/>
          </p:nvPr>
        </p:nvSpPr>
        <p:spPr>
          <a:xfrm>
            <a:off x="311700" y="699200"/>
            <a:ext cx="8520600" cy="40323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lang="en-GB" sz="1500">
                <a:solidFill>
                  <a:schemeClr val="dk1"/>
                </a:solidFill>
              </a:rPr>
              <a:t>The system should </a:t>
            </a:r>
            <a:r>
              <a:rPr b="1" lang="en-GB" sz="1500">
                <a:solidFill>
                  <a:schemeClr val="dk1"/>
                </a:solidFill>
              </a:rPr>
              <a:t>allow vehicles to enter the parking lot</a:t>
            </a:r>
            <a:r>
              <a:rPr lang="en-GB" sz="1500">
                <a:solidFill>
                  <a:schemeClr val="dk1"/>
                </a:solidFill>
              </a:rPr>
              <a:t>.    </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a:t>
            </a:r>
            <a:r>
              <a:rPr b="1" lang="en-GB" sz="1500">
                <a:solidFill>
                  <a:schemeClr val="dk1"/>
                </a:solidFill>
              </a:rPr>
              <a:t>allocate an available parking slot</a:t>
            </a:r>
            <a:r>
              <a:rPr lang="en-GB" sz="1500">
                <a:solidFill>
                  <a:schemeClr val="dk1"/>
                </a:solidFill>
              </a:rPr>
              <a:t> based on vehicle type.</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parking lot has a </a:t>
            </a:r>
            <a:r>
              <a:rPr b="1" lang="en-GB" sz="1500">
                <a:solidFill>
                  <a:schemeClr val="dk1"/>
                </a:solidFill>
              </a:rPr>
              <a:t>fixed number of parking slots</a:t>
            </a:r>
            <a:r>
              <a:rPr lang="en-GB" sz="1500">
                <a:solidFill>
                  <a:schemeClr val="dk1"/>
                </a:solidFill>
              </a:rPr>
              <a:t>.</a:t>
            </a:r>
            <a:endParaRPr sz="16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A vehicle can </a:t>
            </a:r>
            <a:r>
              <a:rPr b="1" lang="en-GB" sz="1500">
                <a:solidFill>
                  <a:schemeClr val="dk1"/>
                </a:solidFill>
              </a:rPr>
              <a:t>only occupy one slot at a time</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a:t>
            </a:r>
            <a:r>
              <a:rPr b="1" lang="en-GB" sz="1500">
                <a:solidFill>
                  <a:schemeClr val="dk1"/>
                </a:solidFill>
              </a:rPr>
              <a:t>handle high traffic during peak hours</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have </a:t>
            </a:r>
            <a:r>
              <a:rPr b="1" lang="en-GB" sz="1500">
                <a:solidFill>
                  <a:schemeClr val="dk1"/>
                </a:solidFill>
              </a:rPr>
              <a:t>high availability (99.9% uptime)</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a:t>
            </a:r>
            <a:r>
              <a:rPr b="1" lang="en-GB" sz="1500">
                <a:solidFill>
                  <a:schemeClr val="dk1"/>
                </a:solidFill>
              </a:rPr>
              <a:t>generate a parking ticket when a vehicle enters</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a:t>
            </a:r>
            <a:r>
              <a:rPr b="1" lang="en-GB" sz="1500">
                <a:solidFill>
                  <a:schemeClr val="dk1"/>
                </a:solidFill>
              </a:rPr>
              <a:t>calculate parking fee when the vehicle exits</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a:t>
            </a:r>
            <a:r>
              <a:rPr b="1" lang="en-GB" sz="1500">
                <a:solidFill>
                  <a:schemeClr val="dk1"/>
                </a:solidFill>
              </a:rPr>
              <a:t>process payment using multiple payment methods</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ensure </a:t>
            </a:r>
            <a:r>
              <a:rPr b="1" lang="en-GB" sz="1500">
                <a:solidFill>
                  <a:schemeClr val="dk1"/>
                </a:solidFill>
              </a:rPr>
              <a:t>secure payment transactions</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a:t>
            </a:r>
            <a:r>
              <a:rPr b="1" lang="en-GB" sz="1500">
                <a:solidFill>
                  <a:schemeClr val="dk1"/>
                </a:solidFill>
              </a:rPr>
              <a:t>release the parking slot after payment</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a:t>
            </a:r>
            <a:r>
              <a:rPr b="1" lang="en-GB" sz="1500">
                <a:solidFill>
                  <a:schemeClr val="dk1"/>
                </a:solidFill>
              </a:rPr>
              <a:t>send notifications (SMS/email) after ticket generation or payment</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must </a:t>
            </a:r>
            <a:r>
              <a:rPr b="1" lang="en-GB" sz="1500">
                <a:solidFill>
                  <a:schemeClr val="dk1"/>
                </a:solidFill>
              </a:rPr>
              <a:t>store data in the organization’s approved database</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Notifications must be sent </a:t>
            </a:r>
            <a:r>
              <a:rPr b="1" lang="en-GB" sz="1500">
                <a:solidFill>
                  <a:schemeClr val="dk1"/>
                </a:solidFill>
              </a:rPr>
              <a:t>through existing messaging infrastructure (Kafka)</a:t>
            </a:r>
            <a:r>
              <a:rPr lang="en-GB" sz="1500">
                <a:solidFill>
                  <a:schemeClr val="dk1"/>
                </a:solidFill>
              </a:rPr>
              <a:t>.</a:t>
            </a:r>
            <a:endParaRPr sz="15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172400"/>
            <a:ext cx="8520600" cy="56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OOPS Oriented Analysis</a:t>
            </a:r>
            <a:endParaRPr/>
          </a:p>
        </p:txBody>
      </p:sp>
      <p:sp>
        <p:nvSpPr>
          <p:cNvPr id="112" name="Google Shape;112;p21"/>
          <p:cNvSpPr txBox="1"/>
          <p:nvPr>
            <p:ph idx="1" type="body"/>
          </p:nvPr>
        </p:nvSpPr>
        <p:spPr>
          <a:xfrm>
            <a:off x="254225" y="737600"/>
            <a:ext cx="8520600" cy="42813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GB" sz="1100">
                <a:solidFill>
                  <a:schemeClr val="dk1"/>
                </a:solidFill>
              </a:rPr>
              <a:t>How to identify objects from a problem statement:</a:t>
            </a:r>
            <a:endParaRPr sz="1100">
              <a:solidFill>
                <a:schemeClr val="dk1"/>
              </a:solidFill>
            </a:endParaRPr>
          </a:p>
          <a:p>
            <a:pPr indent="-298450" lvl="0" marL="457200" rtl="0" algn="l">
              <a:spcBef>
                <a:spcPts val="1200"/>
              </a:spcBef>
              <a:spcAft>
                <a:spcPts val="0"/>
              </a:spcAft>
              <a:buClr>
                <a:schemeClr val="dk1"/>
              </a:buClr>
              <a:buSzPts val="1100"/>
              <a:buAutoNum type="arabicPeriod"/>
            </a:pPr>
            <a:r>
              <a:rPr b="1" lang="en-GB" sz="1100">
                <a:solidFill>
                  <a:schemeClr val="dk1"/>
                </a:solidFill>
              </a:rPr>
              <a:t>Nouns</a:t>
            </a:r>
            <a:r>
              <a:rPr lang="en-GB" sz="1100">
                <a:solidFill>
                  <a:schemeClr val="dk1"/>
                </a:solidFill>
              </a:rPr>
              <a:t> are usually </a:t>
            </a:r>
            <a:r>
              <a:rPr b="1" lang="en-GB" sz="1100">
                <a:solidFill>
                  <a:schemeClr val="dk1"/>
                </a:solidFill>
              </a:rPr>
              <a:t>Classes</a:t>
            </a:r>
            <a:r>
              <a:rPr lang="en-GB" sz="1100">
                <a:solidFill>
                  <a:schemeClr val="dk1"/>
                </a:solidFill>
              </a:rPr>
              <a:t> (e.g., Vehicle, ParkingLot, ParkingFloor, EntryPanel, ExitPanel, Account, User, ParkingTicket, RateCard, Payment etc).</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Verbs</a:t>
            </a:r>
            <a:r>
              <a:rPr lang="en-GB" sz="1100">
                <a:solidFill>
                  <a:schemeClr val="dk1"/>
                </a:solidFill>
              </a:rPr>
              <a:t> are usually </a:t>
            </a:r>
            <a:r>
              <a:rPr b="1" lang="en-GB" sz="1100">
                <a:solidFill>
                  <a:schemeClr val="dk1"/>
                </a:solidFill>
              </a:rPr>
              <a:t>Methods</a:t>
            </a:r>
            <a:r>
              <a:rPr lang="en-GB" sz="1100">
                <a:solidFill>
                  <a:schemeClr val="dk1"/>
                </a:solidFill>
              </a:rPr>
              <a:t> (e.g. findAvailableSlot(VehicleType type), updateSlotStatus(String slotId, SlotStatus status), isFull(VehicleType type), getParkingFloorStats(int floorId), getTicket(Vehicle vehicle), printTicket(ParkingTicket ticket), scanTicket(String ticketId), createTicket(Vehicle v, ParkingSlot s), calculateDuration(String ticketId) etc).</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Relationships:</a:t>
            </a:r>
            <a:r>
              <a:rPr lang="en-GB" sz="1100">
                <a:solidFill>
                  <a:schemeClr val="dk1"/>
                </a:solidFill>
              </a:rPr>
              <a:t> Is-A (Inheritance) vs. Has-A (Composition).</a:t>
            </a:r>
            <a:endParaRPr sz="1100">
              <a:solidFill>
                <a:schemeClr val="dk1"/>
              </a:solidFill>
            </a:endParaRPr>
          </a:p>
          <a:p>
            <a:pPr indent="0" lvl="0" marL="457200" rtl="0" algn="l">
              <a:spcBef>
                <a:spcPts val="1200"/>
              </a:spcBef>
              <a:spcAft>
                <a:spcPts val="0"/>
              </a:spcAft>
              <a:buNone/>
            </a:pPr>
            <a:r>
              <a:rPr lang="en-GB" sz="1100">
                <a:solidFill>
                  <a:schemeClr val="dk1"/>
                </a:solidFill>
              </a:rPr>
              <a:t>Is-A (Inheritance): </a:t>
            </a:r>
            <a:r>
              <a:rPr b="1" lang="en-GB" sz="1100">
                <a:solidFill>
                  <a:srgbClr val="188038"/>
                </a:solidFill>
                <a:latin typeface="Roboto Mono"/>
                <a:ea typeface="Roboto Mono"/>
                <a:cs typeface="Roboto Mono"/>
                <a:sym typeface="Roboto Mono"/>
              </a:rPr>
              <a:t>CompactSlot</a:t>
            </a:r>
            <a:r>
              <a:rPr lang="en-GB" sz="1100">
                <a:solidFill>
                  <a:schemeClr val="dk1"/>
                </a:solidFill>
              </a:rPr>
              <a:t> is a </a:t>
            </a:r>
            <a:r>
              <a:rPr b="1" lang="en-GB" sz="1100">
                <a:solidFill>
                  <a:srgbClr val="188038"/>
                </a:solidFill>
                <a:latin typeface="Roboto Mono"/>
                <a:ea typeface="Roboto Mono"/>
                <a:cs typeface="Roboto Mono"/>
                <a:sym typeface="Roboto Mono"/>
              </a:rPr>
              <a:t>ParkingSlot, LargeSlot</a:t>
            </a:r>
            <a:r>
              <a:rPr lang="en-GB" sz="1100">
                <a:solidFill>
                  <a:schemeClr val="dk1"/>
                </a:solidFill>
              </a:rPr>
              <a:t> is a </a:t>
            </a:r>
            <a:r>
              <a:rPr b="1" lang="en-GB" sz="1100">
                <a:solidFill>
                  <a:srgbClr val="188038"/>
                </a:solidFill>
                <a:latin typeface="Roboto Mono"/>
                <a:ea typeface="Roboto Mono"/>
                <a:cs typeface="Roboto Mono"/>
                <a:sym typeface="Roboto Mono"/>
              </a:rPr>
              <a:t>ParkingSlot, MotorbikeSlot</a:t>
            </a:r>
            <a:r>
              <a:rPr lang="en-GB" sz="1100">
                <a:solidFill>
                  <a:schemeClr val="dk1"/>
                </a:solidFill>
              </a:rPr>
              <a:t> is a </a:t>
            </a:r>
            <a:r>
              <a:rPr b="1" lang="en-GB" sz="1100">
                <a:solidFill>
                  <a:srgbClr val="188038"/>
                </a:solidFill>
                <a:latin typeface="Roboto Mono"/>
                <a:ea typeface="Roboto Mono"/>
                <a:cs typeface="Roboto Mono"/>
                <a:sym typeface="Roboto Mono"/>
              </a:rPr>
              <a:t>ParkingSlot, Car</a:t>
            </a:r>
            <a:r>
              <a:rPr lang="en-GB" sz="1100">
                <a:solidFill>
                  <a:schemeClr val="dk1"/>
                </a:solidFill>
              </a:rPr>
              <a:t> is a </a:t>
            </a:r>
            <a:r>
              <a:rPr b="1" lang="en-GB" sz="1100">
                <a:solidFill>
                  <a:srgbClr val="188038"/>
                </a:solidFill>
                <a:latin typeface="Roboto Mono"/>
                <a:ea typeface="Roboto Mono"/>
                <a:cs typeface="Roboto Mono"/>
                <a:sym typeface="Roboto Mono"/>
              </a:rPr>
              <a:t>Vehicle, Truck</a:t>
            </a:r>
            <a:r>
              <a:rPr lang="en-GB" sz="1100">
                <a:solidFill>
                  <a:schemeClr val="dk1"/>
                </a:solidFill>
              </a:rPr>
              <a:t> is a </a:t>
            </a:r>
            <a:r>
              <a:rPr b="1" lang="en-GB" sz="1100">
                <a:solidFill>
                  <a:srgbClr val="188038"/>
                </a:solidFill>
                <a:latin typeface="Roboto Mono"/>
                <a:ea typeface="Roboto Mono"/>
                <a:cs typeface="Roboto Mono"/>
                <a:sym typeface="Roboto Mono"/>
              </a:rPr>
              <a:t>Vehicle, CreditCardPayment</a:t>
            </a:r>
            <a:r>
              <a:rPr lang="en-GB" sz="1100">
                <a:solidFill>
                  <a:schemeClr val="dk1"/>
                </a:solidFill>
              </a:rPr>
              <a:t> is a </a:t>
            </a:r>
            <a:r>
              <a:rPr b="1" lang="en-GB" sz="1100">
                <a:solidFill>
                  <a:srgbClr val="188038"/>
                </a:solidFill>
                <a:latin typeface="Roboto Mono"/>
                <a:ea typeface="Roboto Mono"/>
                <a:cs typeface="Roboto Mono"/>
                <a:sym typeface="Roboto Mono"/>
              </a:rPr>
              <a:t>Payment</a:t>
            </a:r>
            <a:endParaRPr b="1" sz="1100">
              <a:solidFill>
                <a:srgbClr val="188038"/>
              </a:solidFill>
              <a:latin typeface="Roboto Mono"/>
              <a:ea typeface="Roboto Mono"/>
              <a:cs typeface="Roboto Mono"/>
              <a:sym typeface="Roboto Mono"/>
            </a:endParaRPr>
          </a:p>
          <a:p>
            <a:pPr indent="0" lvl="0" marL="457200" rtl="0" algn="l">
              <a:spcBef>
                <a:spcPts val="1200"/>
              </a:spcBef>
              <a:spcAft>
                <a:spcPts val="0"/>
              </a:spcAft>
              <a:buNone/>
            </a:pPr>
            <a:r>
              <a:rPr lang="en-GB" sz="1100">
                <a:solidFill>
                  <a:schemeClr val="dk1"/>
                </a:solidFill>
              </a:rPr>
              <a:t>ha</a:t>
            </a:r>
            <a:r>
              <a:rPr lang="en-GB" sz="1100">
                <a:solidFill>
                  <a:schemeClr val="dk1"/>
                </a:solidFill>
              </a:rPr>
              <a:t>s-A (Inheritance): </a:t>
            </a:r>
            <a:r>
              <a:rPr b="1" lang="en-GB" sz="1100">
                <a:solidFill>
                  <a:srgbClr val="188038"/>
                </a:solidFill>
                <a:latin typeface="Roboto Mono"/>
                <a:ea typeface="Roboto Mono"/>
                <a:cs typeface="Roboto Mono"/>
                <a:sym typeface="Roboto Mono"/>
              </a:rPr>
              <a:t>ParkingLot</a:t>
            </a:r>
            <a:r>
              <a:rPr lang="en-GB" sz="1100">
                <a:solidFill>
                  <a:schemeClr val="dk1"/>
                </a:solidFill>
              </a:rPr>
              <a:t> has many </a:t>
            </a:r>
            <a:r>
              <a:rPr b="1" lang="en-GB" sz="1100">
                <a:solidFill>
                  <a:srgbClr val="188038"/>
                </a:solidFill>
                <a:latin typeface="Roboto Mono"/>
                <a:ea typeface="Roboto Mono"/>
                <a:cs typeface="Roboto Mono"/>
                <a:sym typeface="Roboto Mono"/>
              </a:rPr>
              <a:t>ParkingFloors, ParkingFloor</a:t>
            </a:r>
            <a:r>
              <a:rPr lang="en-GB" sz="1100">
                <a:solidFill>
                  <a:schemeClr val="dk1"/>
                </a:solidFill>
              </a:rPr>
              <a:t> has many </a:t>
            </a:r>
            <a:r>
              <a:rPr b="1" lang="en-GB" sz="1100">
                <a:solidFill>
                  <a:srgbClr val="188038"/>
                </a:solidFill>
                <a:latin typeface="Roboto Mono"/>
                <a:ea typeface="Roboto Mono"/>
                <a:cs typeface="Roboto Mono"/>
                <a:sym typeface="Roboto Mono"/>
              </a:rPr>
              <a:t>ParkingSlots, EntrancePanel</a:t>
            </a:r>
            <a:r>
              <a:rPr lang="en-GB" sz="1100">
                <a:solidFill>
                  <a:schemeClr val="dk1"/>
                </a:solidFill>
              </a:rPr>
              <a:t> has a </a:t>
            </a:r>
            <a:r>
              <a:rPr b="1" lang="en-GB" sz="1100">
                <a:solidFill>
                  <a:srgbClr val="188038"/>
                </a:solidFill>
                <a:latin typeface="Roboto Mono"/>
                <a:ea typeface="Roboto Mono"/>
                <a:cs typeface="Roboto Mono"/>
                <a:sym typeface="Roboto Mono"/>
              </a:rPr>
              <a:t>TicketPrinter, ParkingTicket</a:t>
            </a:r>
            <a:r>
              <a:rPr lang="en-GB" sz="1100">
                <a:solidFill>
                  <a:schemeClr val="dk1"/>
                </a:solidFill>
              </a:rPr>
              <a:t> has a </a:t>
            </a:r>
            <a:r>
              <a:rPr b="1" lang="en-GB" sz="1100">
                <a:solidFill>
                  <a:srgbClr val="188038"/>
                </a:solidFill>
                <a:latin typeface="Roboto Mono"/>
                <a:ea typeface="Roboto Mono"/>
                <a:cs typeface="Roboto Mono"/>
                <a:sym typeface="Roboto Mono"/>
              </a:rPr>
              <a:t>Vehicle</a:t>
            </a:r>
            <a:r>
              <a:rPr lang="en-GB" sz="1100">
                <a:solidFill>
                  <a:schemeClr val="dk1"/>
                </a:solidFill>
              </a:rPr>
              <a:t> (associated with it), </a:t>
            </a:r>
            <a:r>
              <a:rPr b="1" lang="en-GB" sz="1100">
                <a:solidFill>
                  <a:srgbClr val="188038"/>
                </a:solidFill>
                <a:latin typeface="Roboto Mono"/>
                <a:ea typeface="Roboto Mono"/>
                <a:cs typeface="Roboto Mono"/>
                <a:sym typeface="Roboto Mono"/>
              </a:rPr>
              <a:t>ParkingTicket</a:t>
            </a:r>
            <a:r>
              <a:rPr lang="en-GB" sz="1100">
                <a:solidFill>
                  <a:schemeClr val="dk1"/>
                </a:solidFill>
              </a:rPr>
              <a:t> has a </a:t>
            </a:r>
            <a:r>
              <a:rPr b="1" lang="en-GB" sz="1100">
                <a:solidFill>
                  <a:srgbClr val="188038"/>
                </a:solidFill>
                <a:latin typeface="Roboto Mono"/>
                <a:ea typeface="Roboto Mono"/>
                <a:cs typeface="Roboto Mono"/>
                <a:sym typeface="Roboto Mono"/>
              </a:rPr>
              <a:t>ParkingSlot</a:t>
            </a:r>
            <a:r>
              <a:rPr lang="en-GB" sz="1100">
                <a:solidFill>
                  <a:schemeClr val="dk1"/>
                </a:solidFill>
              </a:rPr>
              <a:t> (assigned to it), </a:t>
            </a:r>
            <a:r>
              <a:rPr b="1" lang="en-GB" sz="1100">
                <a:solidFill>
                  <a:srgbClr val="188038"/>
                </a:solidFill>
                <a:latin typeface="Roboto Mono"/>
                <a:ea typeface="Roboto Mono"/>
                <a:cs typeface="Roboto Mono"/>
                <a:sym typeface="Roboto Mono"/>
              </a:rPr>
              <a:t>Account</a:t>
            </a:r>
            <a:r>
              <a:rPr lang="en-GB" sz="1100">
                <a:solidFill>
                  <a:schemeClr val="dk1"/>
                </a:solidFill>
              </a:rPr>
              <a:t> has a </a:t>
            </a:r>
            <a:r>
              <a:rPr b="1" lang="en-GB" sz="1100">
                <a:solidFill>
                  <a:srgbClr val="188038"/>
                </a:solidFill>
                <a:latin typeface="Roboto Mono"/>
                <a:ea typeface="Roboto Mono"/>
                <a:cs typeface="Roboto Mono"/>
                <a:sym typeface="Roboto Mono"/>
              </a:rPr>
              <a:t>Person</a:t>
            </a:r>
            <a:r>
              <a:rPr lang="en-GB" sz="1100">
                <a:solidFill>
                  <a:schemeClr val="dk1"/>
                </a:solidFill>
              </a:rPr>
              <a:t> (storing name, email, etc.)</a:t>
            </a:r>
            <a:endParaRPr sz="1100">
              <a:solidFill>
                <a:schemeClr val="dk1"/>
              </a:solidFill>
            </a:endParaRPr>
          </a:p>
          <a:p>
            <a:pPr indent="0" lvl="0" marL="457200" rtl="0" algn="l">
              <a:spcBef>
                <a:spcPts val="1200"/>
              </a:spcBef>
              <a:spcAft>
                <a:spcPts val="0"/>
              </a:spcAft>
              <a:buClr>
                <a:schemeClr val="dk1"/>
              </a:buClr>
              <a:buSzPts val="1100"/>
              <a:buFont typeface="Arial"/>
              <a:buNone/>
            </a:pPr>
            <a:r>
              <a:t/>
            </a:r>
            <a:endParaRPr sz="1100">
              <a:solidFill>
                <a:schemeClr val="dk1"/>
              </a:solidFill>
            </a:endParaRPr>
          </a:p>
          <a:p>
            <a:pPr indent="0" lvl="0" marL="457200" rtl="0" algn="l">
              <a:spcBef>
                <a:spcPts val="1200"/>
              </a:spcBef>
              <a:spcAft>
                <a:spcPts val="0"/>
              </a:spcAft>
              <a:buNone/>
            </a:pPr>
            <a:r>
              <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0"/>
            <a:ext cx="8520600" cy="51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SOLID Is Implemented?</a:t>
            </a:r>
            <a:endParaRPr/>
          </a:p>
          <a:p>
            <a:pPr indent="0" lvl="0" marL="0" rtl="0" algn="l">
              <a:spcBef>
                <a:spcPts val="0"/>
              </a:spcBef>
              <a:spcAft>
                <a:spcPts val="0"/>
              </a:spcAft>
              <a:buNone/>
            </a:pPr>
            <a:r>
              <a:t/>
            </a:r>
            <a:endParaRPr/>
          </a:p>
        </p:txBody>
      </p:sp>
      <p:sp>
        <p:nvSpPr>
          <p:cNvPr id="118" name="Google Shape;118;p22"/>
          <p:cNvSpPr txBox="1"/>
          <p:nvPr>
            <p:ph idx="1" type="body"/>
          </p:nvPr>
        </p:nvSpPr>
        <p:spPr>
          <a:xfrm>
            <a:off x="50" y="38325"/>
            <a:ext cx="9144000" cy="501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a:t>
            </a:r>
            <a:endParaRPr/>
          </a:p>
          <a:p>
            <a:pPr indent="0" lvl="0" marL="0" rtl="0" algn="l">
              <a:spcBef>
                <a:spcPts val="1200"/>
              </a:spcBef>
              <a:spcAft>
                <a:spcPts val="0"/>
              </a:spcAft>
              <a:buClr>
                <a:schemeClr val="dk1"/>
              </a:buClr>
              <a:buSzPts val="1100"/>
              <a:buFont typeface="Arial"/>
              <a:buNone/>
            </a:pPr>
            <a:r>
              <a:rPr b="1" lang="en-GB" sz="1100">
                <a:solidFill>
                  <a:schemeClr val="dk1"/>
                </a:solidFill>
              </a:rPr>
              <a:t>S (Single Responsibility):</a:t>
            </a:r>
            <a:r>
              <a:rPr lang="en-GB" sz="1100">
                <a:solidFill>
                  <a:schemeClr val="dk1"/>
                </a:solidFill>
              </a:rPr>
              <a:t> A class should do one thing only. {We have created multiple classes instead of one}</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O (Open/Closed):</a:t>
            </a:r>
            <a:r>
              <a:rPr lang="en-GB" sz="1100">
                <a:solidFill>
                  <a:schemeClr val="dk1"/>
                </a:solidFill>
              </a:rPr>
              <a:t> Open for extension, closed for modification (Use Interfaces). {one more vehicle come, we can extend it with vehicles}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L (Liskov Substitution):</a:t>
            </a:r>
            <a:r>
              <a:rPr lang="en-GB" sz="1100">
                <a:solidFill>
                  <a:schemeClr val="dk1"/>
                </a:solidFill>
              </a:rPr>
              <a:t> Subtypes must be substitutable for their base types. {all methods in Vehicle should be implemented in Car class}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I (Interface Segregation):</a:t>
            </a:r>
            <a:r>
              <a:rPr lang="en-GB" sz="1100">
                <a:solidFill>
                  <a:schemeClr val="dk1"/>
                </a:solidFill>
              </a:rPr>
              <a:t> Don't force a class to implement methods it doesn't use. {IExitService, IPaymentService are 2 independent interfaces}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D (Dependency Inversion):</a:t>
            </a:r>
            <a:r>
              <a:rPr lang="en-GB" sz="1100">
                <a:solidFill>
                  <a:schemeClr val="dk1"/>
                </a:solidFill>
              </a:rPr>
              <a:t> Depend on abstractions, not concretions. {We are dealing with interfaces instead of classes}</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76625"/>
            <a:ext cx="8520600" cy="431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Classes To Understand The System Better</a:t>
            </a:r>
            <a:endParaRPr/>
          </a:p>
        </p:txBody>
      </p:sp>
      <p:sp>
        <p:nvSpPr>
          <p:cNvPr id="124" name="Google Shape;124;p23"/>
          <p:cNvSpPr txBox="1"/>
          <p:nvPr>
            <p:ph idx="1" type="body"/>
          </p:nvPr>
        </p:nvSpPr>
        <p:spPr>
          <a:xfrm>
            <a:off x="0" y="775850"/>
            <a:ext cx="9041700" cy="424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 </a:t>
            </a:r>
            <a:endParaRPr/>
          </a:p>
        </p:txBody>
      </p:sp>
      <p:pic>
        <p:nvPicPr>
          <p:cNvPr id="125" name="Google Shape;125;p23"/>
          <p:cNvPicPr preferRelativeResize="0"/>
          <p:nvPr/>
        </p:nvPicPr>
        <p:blipFill>
          <a:blip r:embed="rId3">
            <a:alphaModFix/>
          </a:blip>
          <a:stretch>
            <a:fillRect/>
          </a:stretch>
        </p:blipFill>
        <p:spPr>
          <a:xfrm>
            <a:off x="756675" y="565125"/>
            <a:ext cx="7423124" cy="4531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86200"/>
            <a:ext cx="8520600" cy="431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Functionality With Solid Principles </a:t>
            </a:r>
            <a:endParaRPr/>
          </a:p>
        </p:txBody>
      </p:sp>
      <p:sp>
        <p:nvSpPr>
          <p:cNvPr id="131" name="Google Shape;131;p24"/>
          <p:cNvSpPr txBox="1"/>
          <p:nvPr>
            <p:ph idx="1" type="body"/>
          </p:nvPr>
        </p:nvSpPr>
        <p:spPr>
          <a:xfrm>
            <a:off x="0" y="344900"/>
            <a:ext cx="9144000" cy="4798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2" name="Google Shape;132;p24"/>
          <p:cNvPicPr preferRelativeResize="0"/>
          <p:nvPr/>
        </p:nvPicPr>
        <p:blipFill>
          <a:blip r:embed="rId3">
            <a:alphaModFix/>
          </a:blip>
          <a:stretch>
            <a:fillRect/>
          </a:stretch>
        </p:blipFill>
        <p:spPr>
          <a:xfrm>
            <a:off x="72250" y="409825"/>
            <a:ext cx="2940976" cy="595875"/>
          </a:xfrm>
          <a:prstGeom prst="rect">
            <a:avLst/>
          </a:prstGeom>
          <a:noFill/>
          <a:ln>
            <a:noFill/>
          </a:ln>
        </p:spPr>
      </p:pic>
      <p:pic>
        <p:nvPicPr>
          <p:cNvPr id="133" name="Google Shape;133;p24"/>
          <p:cNvPicPr preferRelativeResize="0"/>
          <p:nvPr/>
        </p:nvPicPr>
        <p:blipFill>
          <a:blip r:embed="rId4">
            <a:alphaModFix/>
          </a:blip>
          <a:stretch>
            <a:fillRect/>
          </a:stretch>
        </p:blipFill>
        <p:spPr>
          <a:xfrm>
            <a:off x="3582250" y="409825"/>
            <a:ext cx="4338952" cy="2741400"/>
          </a:xfrm>
          <a:prstGeom prst="rect">
            <a:avLst/>
          </a:prstGeom>
          <a:noFill/>
          <a:ln>
            <a:noFill/>
          </a:ln>
        </p:spPr>
      </p:pic>
      <p:pic>
        <p:nvPicPr>
          <p:cNvPr id="134" name="Google Shape;134;p24"/>
          <p:cNvPicPr preferRelativeResize="0"/>
          <p:nvPr/>
        </p:nvPicPr>
        <p:blipFill rotWithShape="1">
          <a:blip r:embed="rId5">
            <a:alphaModFix/>
          </a:blip>
          <a:srcRect b="0" l="-13021" r="-11" t="0"/>
          <a:stretch/>
        </p:blipFill>
        <p:spPr>
          <a:xfrm>
            <a:off x="565125" y="944350"/>
            <a:ext cx="3324075" cy="1672350"/>
          </a:xfrm>
          <a:prstGeom prst="rect">
            <a:avLst/>
          </a:prstGeom>
          <a:noFill/>
          <a:ln>
            <a:noFill/>
          </a:ln>
        </p:spPr>
      </p:pic>
      <p:pic>
        <p:nvPicPr>
          <p:cNvPr id="135" name="Google Shape;135;p24"/>
          <p:cNvPicPr preferRelativeResize="0"/>
          <p:nvPr/>
        </p:nvPicPr>
        <p:blipFill>
          <a:blip r:embed="rId6">
            <a:alphaModFix/>
          </a:blip>
          <a:stretch>
            <a:fillRect/>
          </a:stretch>
        </p:blipFill>
        <p:spPr>
          <a:xfrm>
            <a:off x="138650" y="2798100"/>
            <a:ext cx="3597351" cy="2287926"/>
          </a:xfrm>
          <a:prstGeom prst="rect">
            <a:avLst/>
          </a:prstGeom>
          <a:noFill/>
          <a:ln>
            <a:noFill/>
          </a:ln>
        </p:spPr>
      </p:pic>
      <p:pic>
        <p:nvPicPr>
          <p:cNvPr id="136" name="Google Shape;136;p24"/>
          <p:cNvPicPr preferRelativeResize="0"/>
          <p:nvPr/>
        </p:nvPicPr>
        <p:blipFill>
          <a:blip r:embed="rId7">
            <a:alphaModFix/>
          </a:blip>
          <a:stretch>
            <a:fillRect/>
          </a:stretch>
        </p:blipFill>
        <p:spPr>
          <a:xfrm>
            <a:off x="5674625" y="1657025"/>
            <a:ext cx="3469375" cy="342899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311700" y="-57475"/>
            <a:ext cx="8520600" cy="42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GB"/>
              <a:t>Functionality With Solid Principles </a:t>
            </a:r>
            <a:endParaRPr/>
          </a:p>
          <a:p>
            <a:pPr indent="0" lvl="0" marL="0" rtl="0" algn="l">
              <a:spcBef>
                <a:spcPts val="0"/>
              </a:spcBef>
              <a:spcAft>
                <a:spcPts val="0"/>
              </a:spcAft>
              <a:buNone/>
            </a:pPr>
            <a:r>
              <a:t/>
            </a:r>
            <a:endParaRPr/>
          </a:p>
        </p:txBody>
      </p:sp>
      <p:sp>
        <p:nvSpPr>
          <p:cNvPr id="142" name="Google Shape;142;p25"/>
          <p:cNvSpPr txBox="1"/>
          <p:nvPr>
            <p:ph idx="1" type="body"/>
          </p:nvPr>
        </p:nvSpPr>
        <p:spPr>
          <a:xfrm>
            <a:off x="-28800" y="0"/>
            <a:ext cx="9201600" cy="5354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 </a:t>
            </a:r>
            <a:endParaRPr/>
          </a:p>
        </p:txBody>
      </p:sp>
      <p:pic>
        <p:nvPicPr>
          <p:cNvPr id="143" name="Google Shape;143;p25"/>
          <p:cNvPicPr preferRelativeResize="0"/>
          <p:nvPr/>
        </p:nvPicPr>
        <p:blipFill>
          <a:blip r:embed="rId3">
            <a:alphaModFix/>
          </a:blip>
          <a:stretch>
            <a:fillRect/>
          </a:stretch>
        </p:blipFill>
        <p:spPr>
          <a:xfrm>
            <a:off x="2" y="660950"/>
            <a:ext cx="4168348" cy="3558473"/>
          </a:xfrm>
          <a:prstGeom prst="rect">
            <a:avLst/>
          </a:prstGeom>
          <a:noFill/>
          <a:ln>
            <a:noFill/>
          </a:ln>
        </p:spPr>
      </p:pic>
      <p:pic>
        <p:nvPicPr>
          <p:cNvPr id="144" name="Google Shape;144;p25"/>
          <p:cNvPicPr preferRelativeResize="0"/>
          <p:nvPr/>
        </p:nvPicPr>
        <p:blipFill>
          <a:blip r:embed="rId4">
            <a:alphaModFix/>
          </a:blip>
          <a:stretch>
            <a:fillRect/>
          </a:stretch>
        </p:blipFill>
        <p:spPr>
          <a:xfrm>
            <a:off x="5004353" y="866912"/>
            <a:ext cx="3616725" cy="3812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311700" y="57475"/>
            <a:ext cx="8520600" cy="478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Tables Structure </a:t>
            </a:r>
            <a:endParaRPr/>
          </a:p>
        </p:txBody>
      </p:sp>
      <p:sp>
        <p:nvSpPr>
          <p:cNvPr id="150" name="Google Shape;150;p26"/>
          <p:cNvSpPr txBox="1"/>
          <p:nvPr>
            <p:ph idx="1" type="body"/>
          </p:nvPr>
        </p:nvSpPr>
        <p:spPr>
          <a:xfrm>
            <a:off x="311700" y="737500"/>
            <a:ext cx="8520600" cy="432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Vehicle Table: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ParkingSpots Table: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51" name="Google Shape;151;p26"/>
          <p:cNvPicPr preferRelativeResize="0"/>
          <p:nvPr/>
        </p:nvPicPr>
        <p:blipFill>
          <a:blip r:embed="rId3">
            <a:alphaModFix/>
          </a:blip>
          <a:stretch>
            <a:fillRect/>
          </a:stretch>
        </p:blipFill>
        <p:spPr>
          <a:xfrm>
            <a:off x="453375" y="1270727"/>
            <a:ext cx="7285823" cy="897400"/>
          </a:xfrm>
          <a:prstGeom prst="rect">
            <a:avLst/>
          </a:prstGeom>
          <a:noFill/>
          <a:ln>
            <a:noFill/>
          </a:ln>
        </p:spPr>
      </p:pic>
      <p:pic>
        <p:nvPicPr>
          <p:cNvPr id="152" name="Google Shape;152;p26"/>
          <p:cNvPicPr preferRelativeResize="0"/>
          <p:nvPr/>
        </p:nvPicPr>
        <p:blipFill>
          <a:blip r:embed="rId4">
            <a:alphaModFix/>
          </a:blip>
          <a:stretch>
            <a:fillRect/>
          </a:stretch>
        </p:blipFill>
        <p:spPr>
          <a:xfrm>
            <a:off x="430425" y="2902588"/>
            <a:ext cx="7331725" cy="1177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311700" y="124525"/>
            <a:ext cx="8520600" cy="612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GB"/>
              <a:t>Tables Structure </a:t>
            </a:r>
            <a:endParaRPr/>
          </a:p>
          <a:p>
            <a:pPr indent="0" lvl="0" marL="0" rtl="0" algn="l">
              <a:spcBef>
                <a:spcPts val="0"/>
              </a:spcBef>
              <a:spcAft>
                <a:spcPts val="0"/>
              </a:spcAft>
              <a:buNone/>
            </a:pPr>
            <a:r>
              <a:t/>
            </a:r>
            <a:endParaRPr/>
          </a:p>
        </p:txBody>
      </p:sp>
      <p:sp>
        <p:nvSpPr>
          <p:cNvPr id="158" name="Google Shape;158;p27"/>
          <p:cNvSpPr txBox="1"/>
          <p:nvPr>
            <p:ph idx="1" type="body"/>
          </p:nvPr>
        </p:nvSpPr>
        <p:spPr>
          <a:xfrm>
            <a:off x="311700" y="737425"/>
            <a:ext cx="8873700" cy="444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Tickets Table: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Payment Table:</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59" name="Google Shape;159;p27"/>
          <p:cNvPicPr preferRelativeResize="0"/>
          <p:nvPr/>
        </p:nvPicPr>
        <p:blipFill>
          <a:blip r:embed="rId3">
            <a:alphaModFix/>
          </a:blip>
          <a:stretch>
            <a:fillRect/>
          </a:stretch>
        </p:blipFill>
        <p:spPr>
          <a:xfrm>
            <a:off x="388325" y="1206850"/>
            <a:ext cx="7887250" cy="1503775"/>
          </a:xfrm>
          <a:prstGeom prst="rect">
            <a:avLst/>
          </a:prstGeom>
          <a:noFill/>
          <a:ln>
            <a:noFill/>
          </a:ln>
        </p:spPr>
      </p:pic>
      <p:pic>
        <p:nvPicPr>
          <p:cNvPr id="160" name="Google Shape;160;p27"/>
          <p:cNvPicPr preferRelativeResize="0"/>
          <p:nvPr/>
        </p:nvPicPr>
        <p:blipFill>
          <a:blip r:embed="rId4">
            <a:alphaModFix/>
          </a:blip>
          <a:stretch>
            <a:fillRect/>
          </a:stretch>
        </p:blipFill>
        <p:spPr>
          <a:xfrm>
            <a:off x="350013" y="3485075"/>
            <a:ext cx="7963876" cy="1619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0"/>
            <a:ext cx="8520600" cy="64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Why Do We Need Synchronization?</a:t>
            </a:r>
            <a:endParaRPr/>
          </a:p>
        </p:txBody>
      </p:sp>
      <p:sp>
        <p:nvSpPr>
          <p:cNvPr id="166" name="Google Shape;166;p28"/>
          <p:cNvSpPr txBox="1"/>
          <p:nvPr>
            <p:ph idx="1" type="body"/>
          </p:nvPr>
        </p:nvSpPr>
        <p:spPr>
          <a:xfrm>
            <a:off x="225500" y="641700"/>
            <a:ext cx="8520600" cy="433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GB" sz="1100">
                <a:solidFill>
                  <a:schemeClr val="dk1"/>
                </a:solidFill>
              </a:rPr>
              <a:t>The Problem:</a:t>
            </a:r>
            <a:r>
              <a:rPr lang="en-GB" sz="1100">
                <a:solidFill>
                  <a:schemeClr val="dk1"/>
                </a:solidFill>
              </a:rPr>
              <a:t> Race Conditions (Two cars, one spot). {data inconsistency, dirty read, lost update}</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The Solution (In-Memory):</a:t>
            </a:r>
            <a:r>
              <a:rPr lang="en-GB" sz="1100">
                <a:solidFill>
                  <a:schemeClr val="dk1"/>
                </a:solidFill>
              </a:rPr>
              <a:t> </a:t>
            </a:r>
            <a:r>
              <a:rPr lang="en-GB" sz="1100">
                <a:solidFill>
                  <a:srgbClr val="188038"/>
                </a:solidFill>
                <a:latin typeface="Roboto Mono"/>
                <a:ea typeface="Roboto Mono"/>
                <a:cs typeface="Roboto Mono"/>
                <a:sym typeface="Roboto Mono"/>
              </a:rPr>
              <a:t>synchronized</a:t>
            </a:r>
            <a:r>
              <a:rPr lang="en-GB" sz="1100">
                <a:solidFill>
                  <a:schemeClr val="dk1"/>
                </a:solidFill>
              </a:rPr>
              <a:t> keywords or </a:t>
            </a:r>
            <a:r>
              <a:rPr lang="en-GB" sz="1100">
                <a:solidFill>
                  <a:srgbClr val="188038"/>
                </a:solidFill>
                <a:latin typeface="Roboto Mono"/>
                <a:ea typeface="Roboto Mono"/>
                <a:cs typeface="Roboto Mono"/>
                <a:sym typeface="Roboto Mono"/>
              </a:rPr>
              <a:t>Locks</a:t>
            </a:r>
            <a:r>
              <a:rPr lang="en-GB" sz="1100">
                <a:solidFill>
                  <a:schemeClr val="dk1"/>
                </a:solidFill>
              </a:rPr>
              <a:t> or </a:t>
            </a:r>
            <a:r>
              <a:rPr lang="en-GB" sz="1100">
                <a:solidFill>
                  <a:srgbClr val="188038"/>
                </a:solidFill>
                <a:latin typeface="Roboto Mono"/>
                <a:ea typeface="Roboto Mono"/>
                <a:cs typeface="Roboto Mono"/>
                <a:sym typeface="Roboto Mono"/>
              </a:rPr>
              <a:t>Atomic Classes </a:t>
            </a:r>
            <a:r>
              <a:rPr lang="en-GB" sz="1100">
                <a:solidFill>
                  <a:schemeClr val="dk1"/>
                </a:solidFill>
              </a:rPr>
              <a:t> in Java (only works for one server).</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The Solution (Persistent):</a:t>
            </a:r>
            <a:r>
              <a:rPr lang="en-GB" sz="1100">
                <a:solidFill>
                  <a:schemeClr val="dk1"/>
                </a:solidFill>
              </a:rPr>
              <a:t> Database transactions and row-level locking, centralized locking  (ideal for production)</a:t>
            </a:r>
            <a:endParaRPr sz="1100">
              <a:solidFill>
                <a:schemeClr val="dk1"/>
              </a:solidFill>
            </a:endParaRPr>
          </a:p>
          <a:p>
            <a:pPr indent="0" lvl="0" marL="0" rtl="0" algn="l">
              <a:spcBef>
                <a:spcPts val="1200"/>
              </a:spcBef>
              <a:spcAft>
                <a:spcPts val="1200"/>
              </a:spcAft>
              <a:buNone/>
            </a:pPr>
            <a:r>
              <a:rPr lang="en-GB"/>
              <a:t>The idea is to ensure that only one thread can update the data at a time, preventing multiple threads from modifying the same information simultaneously.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0" name="Shape 170"/>
        <p:cNvGrpSpPr/>
        <p:nvPr/>
      </p:nvGrpSpPr>
      <p:grpSpPr>
        <a:xfrm>
          <a:off x="0" y="0"/>
          <a:ext cx="0" cy="0"/>
          <a:chOff x="0" y="0"/>
          <a:chExt cx="0" cy="0"/>
        </a:xfrm>
      </p:grpSpPr>
      <p:sp>
        <p:nvSpPr>
          <p:cNvPr id="171" name="Google Shape;171;p29"/>
          <p:cNvSpPr txBox="1"/>
          <p:nvPr/>
        </p:nvSpPr>
        <p:spPr>
          <a:xfrm>
            <a:off x="0" y="1130225"/>
            <a:ext cx="4406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chemeClr val="dk1"/>
                </a:solidFill>
              </a:rPr>
              <a:t>LLD Session II</a:t>
            </a:r>
            <a:endParaRPr sz="2400">
              <a:solidFill>
                <a:schemeClr val="dk1"/>
              </a:solidFill>
            </a:endParaRPr>
          </a:p>
        </p:txBody>
      </p:sp>
      <p:sp>
        <p:nvSpPr>
          <p:cNvPr id="172" name="Google Shape;172;p29"/>
          <p:cNvSpPr txBox="1"/>
          <p:nvPr/>
        </p:nvSpPr>
        <p:spPr>
          <a:xfrm>
            <a:off x="165900" y="1817325"/>
            <a:ext cx="4316700" cy="19086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100"/>
              </a:spcBef>
              <a:spcAft>
                <a:spcPts val="0"/>
              </a:spcAft>
              <a:buClr>
                <a:schemeClr val="dk1"/>
              </a:buClr>
              <a:buSzPts val="1600"/>
              <a:buChar char="●"/>
            </a:pPr>
            <a:r>
              <a:rPr lang="en-GB" sz="1600">
                <a:solidFill>
                  <a:schemeClr val="dk1"/>
                </a:solidFill>
              </a:rPr>
              <a:t>What We Discussed Previously?</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600">
                <a:solidFill>
                  <a:schemeClr val="dk1"/>
                </a:solidFill>
              </a:rPr>
              <a:t>Movie Ticket System </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600">
                <a:solidFill>
                  <a:schemeClr val="dk1"/>
                </a:solidFill>
              </a:rPr>
              <a:t>Locking Revisited</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600">
                <a:solidFill>
                  <a:schemeClr val="dk1"/>
                </a:solidFill>
              </a:rPr>
              <a:t>Synchronous Vs Asynchronous System</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600">
                <a:solidFill>
                  <a:schemeClr val="dk1"/>
                </a:solidFill>
              </a:rPr>
              <a:t>Design Pattern (Factory, Strategy)</a:t>
            </a:r>
            <a:endParaRPr sz="16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6" name="Shape 176"/>
        <p:cNvGrpSpPr/>
        <p:nvPr/>
      </p:nvGrpSpPr>
      <p:grpSpPr>
        <a:xfrm>
          <a:off x="0" y="0"/>
          <a:ext cx="0" cy="0"/>
          <a:chOff x="0" y="0"/>
          <a:chExt cx="0" cy="0"/>
        </a:xfrm>
      </p:grpSpPr>
      <p:sp>
        <p:nvSpPr>
          <p:cNvPr id="177" name="Google Shape;177;p30"/>
          <p:cNvSpPr txBox="1"/>
          <p:nvPr/>
        </p:nvSpPr>
        <p:spPr>
          <a:xfrm>
            <a:off x="213725" y="615600"/>
            <a:ext cx="8285700" cy="4442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GB" sz="1100">
                <a:solidFill>
                  <a:schemeClr val="dk1"/>
                </a:solidFill>
              </a:rPr>
              <a:t>Functional:</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1️⃣ One city can have multiple Cinemas/Theatres</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2️⃣ Each theater can have multiple screens </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3️⃣ Each screen can have multiple shows</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4️⃣ Each show will have multiple seats </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5️⃣ The user must able to search and see the exact current state of the theater seat status (Available vs. Occupied vs Blocked).</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6️⃣ Users can select multiple seats together (e.g., A1, A2, A3).</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7️⃣As soon as a user selects "Book," those seats are hidden from all other users.</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8️⃣ Upon successful payment, the user receives a unique </a:t>
            </a:r>
            <a:r>
              <a:rPr lang="en-GB" sz="1100">
                <a:solidFill>
                  <a:srgbClr val="188038"/>
                </a:solidFill>
                <a:latin typeface="Roboto Mono"/>
                <a:ea typeface="Roboto Mono"/>
                <a:cs typeface="Roboto Mono"/>
                <a:sym typeface="Roboto Mono"/>
              </a:rPr>
              <a:t>BookingID</a:t>
            </a:r>
            <a:r>
              <a:rPr lang="en-GB"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9️⃣ If the user's internet drops or they cancel, the seats must become "Available" again automatically after a timeout.</a:t>
            </a:r>
            <a:endParaRPr sz="1100">
              <a:solidFill>
                <a:schemeClr val="dk1"/>
              </a:solidFill>
            </a:endParaRPr>
          </a:p>
          <a:p>
            <a:pPr indent="0" lvl="0" marL="0" rtl="0" algn="l">
              <a:lnSpc>
                <a:spcPct val="115000"/>
              </a:lnSpc>
              <a:spcBef>
                <a:spcPts val="1200"/>
              </a:spcBef>
              <a:spcAft>
                <a:spcPts val="1200"/>
              </a:spcAft>
              <a:buNone/>
            </a:pPr>
            <a:r>
              <a:t/>
            </a:r>
            <a:endParaRPr b="1" sz="2000">
              <a:solidFill>
                <a:schemeClr val="dk1"/>
              </a:solidFill>
              <a:latin typeface="Helvetica Neue"/>
              <a:ea typeface="Helvetica Neue"/>
              <a:cs typeface="Helvetica Neue"/>
              <a:sym typeface="Helvetica Neue"/>
            </a:endParaRPr>
          </a:p>
        </p:txBody>
      </p:sp>
      <p:sp>
        <p:nvSpPr>
          <p:cNvPr id="178" name="Google Shape;178;p30"/>
          <p:cNvSpPr txBox="1"/>
          <p:nvPr/>
        </p:nvSpPr>
        <p:spPr>
          <a:xfrm>
            <a:off x="172400" y="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Requirement Gathering for Movie Ticket Booking </a:t>
            </a:r>
            <a:endParaRPr sz="2800">
              <a:solidFill>
                <a:srgbClr val="8E7CC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1"/>
          <p:cNvSpPr txBox="1"/>
          <p:nvPr>
            <p:ph type="title"/>
          </p:nvPr>
        </p:nvSpPr>
        <p:spPr>
          <a:xfrm>
            <a:off x="86200" y="57475"/>
            <a:ext cx="8746200" cy="594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Movie Ticket Booking </a:t>
            </a:r>
            <a:endParaRPr/>
          </a:p>
        </p:txBody>
      </p:sp>
      <p:sp>
        <p:nvSpPr>
          <p:cNvPr id="184" name="Google Shape;184;p31"/>
          <p:cNvSpPr txBox="1"/>
          <p:nvPr>
            <p:ph idx="1" type="body"/>
          </p:nvPr>
        </p:nvSpPr>
        <p:spPr>
          <a:xfrm>
            <a:off x="86200" y="651475"/>
            <a:ext cx="8994000" cy="441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100">
              <a:solidFill>
                <a:schemeClr val="dk1"/>
              </a:solidFill>
            </a:endParaRPr>
          </a:p>
          <a:p>
            <a:pPr indent="0" lvl="0" marL="0" rtl="0" algn="l">
              <a:spcBef>
                <a:spcPts val="1200"/>
              </a:spcBef>
              <a:spcAft>
                <a:spcPts val="0"/>
              </a:spcAft>
              <a:buNone/>
            </a:pPr>
            <a:r>
              <a:rPr lang="en-GB" sz="1100">
                <a:solidFill>
                  <a:schemeClr val="dk1"/>
                </a:solidFill>
              </a:rPr>
              <a:t>Non- </a:t>
            </a:r>
            <a:r>
              <a:rPr lang="en-GB" sz="1100">
                <a:solidFill>
                  <a:schemeClr val="dk1"/>
                </a:solidFill>
              </a:rPr>
              <a:t>Functional Requirements: </a:t>
            </a:r>
            <a:endParaRPr sz="1100">
              <a:solidFill>
                <a:schemeClr val="dk1"/>
              </a:solidFill>
            </a:endParaRPr>
          </a:p>
          <a:p>
            <a:pPr indent="0" lvl="0" marL="457200" rtl="0" algn="l">
              <a:spcBef>
                <a:spcPts val="1200"/>
              </a:spcBef>
              <a:spcAft>
                <a:spcPts val="0"/>
              </a:spcAft>
              <a:buNone/>
            </a:pPr>
            <a:r>
              <a:rPr lang="en-GB" sz="1100">
                <a:solidFill>
                  <a:schemeClr val="dk1"/>
                </a:solidFill>
              </a:rPr>
              <a:t>1️⃣ </a:t>
            </a:r>
            <a:r>
              <a:rPr lang="en-GB" sz="1100">
                <a:solidFill>
                  <a:schemeClr val="dk1"/>
                </a:solidFill>
              </a:rPr>
              <a:t>Under no circumstances should the system allow </a:t>
            </a:r>
            <a:r>
              <a:rPr b="1" lang="en-GB" sz="1100">
                <a:solidFill>
                  <a:schemeClr val="dk1"/>
                </a:solidFill>
              </a:rPr>
              <a:t>Double Booking</a:t>
            </a:r>
            <a:r>
              <a:rPr lang="en-GB" sz="1100">
                <a:solidFill>
                  <a:schemeClr val="dk1"/>
                </a:solidFill>
              </a:rPr>
              <a:t>.</a:t>
            </a:r>
            <a:endParaRPr sz="1100">
              <a:solidFill>
                <a:schemeClr val="dk1"/>
              </a:solidFill>
            </a:endParaRPr>
          </a:p>
          <a:p>
            <a:pPr indent="0" lvl="0" marL="0" rtl="0" algn="l">
              <a:spcBef>
                <a:spcPts val="1200"/>
              </a:spcBef>
              <a:spcAft>
                <a:spcPts val="0"/>
              </a:spcAft>
              <a:buNone/>
            </a:pPr>
            <a:r>
              <a:rPr lang="en-GB" sz="1100">
                <a:solidFill>
                  <a:schemeClr val="dk1"/>
                </a:solidFill>
              </a:rPr>
              <a:t>Constraints:</a:t>
            </a:r>
            <a:endParaRPr sz="1100">
              <a:solidFill>
                <a:schemeClr val="dk1"/>
              </a:solidFill>
            </a:endParaRPr>
          </a:p>
          <a:p>
            <a:pPr indent="0" lvl="0" marL="457200" rtl="0" algn="l">
              <a:spcBef>
                <a:spcPts val="1200"/>
              </a:spcBef>
              <a:spcAft>
                <a:spcPts val="0"/>
              </a:spcAft>
              <a:buNone/>
            </a:pPr>
            <a:r>
              <a:rPr lang="en-GB" sz="1100">
                <a:solidFill>
                  <a:schemeClr val="dk1"/>
                </a:solidFill>
              </a:rPr>
              <a:t>1️⃣ </a:t>
            </a:r>
            <a:r>
              <a:rPr lang="en-GB" sz="1100">
                <a:solidFill>
                  <a:schemeClr val="dk1"/>
                </a:solidFill>
              </a:rPr>
              <a:t>Only one user can get one seat</a:t>
            </a:r>
            <a:endParaRPr sz="1100">
              <a:solidFill>
                <a:schemeClr val="dk1"/>
              </a:solidFill>
            </a:endParaRPr>
          </a:p>
          <a:p>
            <a:pPr indent="0" lvl="0" marL="457200" rtl="0" algn="l">
              <a:spcBef>
                <a:spcPts val="1200"/>
              </a:spcBef>
              <a:spcAft>
                <a:spcPts val="0"/>
              </a:spcAft>
              <a:buNone/>
            </a:pPr>
            <a:r>
              <a:rPr lang="en-GB" sz="1100">
                <a:solidFill>
                  <a:schemeClr val="dk1"/>
                </a:solidFill>
              </a:rPr>
              <a:t>2️⃣  </a:t>
            </a:r>
            <a:r>
              <a:rPr lang="en-GB" sz="1100">
                <a:solidFill>
                  <a:schemeClr val="dk1"/>
                </a:solidFill>
              </a:rPr>
              <a:t>Theatres have limited </a:t>
            </a:r>
            <a:r>
              <a:rPr lang="en-GB" sz="1100">
                <a:solidFill>
                  <a:schemeClr val="dk1"/>
                </a:solidFill>
              </a:rPr>
              <a:t>number</a:t>
            </a:r>
            <a:r>
              <a:rPr lang="en-GB" sz="1100">
                <a:solidFill>
                  <a:schemeClr val="dk1"/>
                </a:solidFill>
              </a:rPr>
              <a:t> of seats </a:t>
            </a:r>
            <a:endParaRPr sz="1100">
              <a:solidFill>
                <a:schemeClr val="dk1"/>
              </a:solidFill>
            </a:endParaRPr>
          </a:p>
          <a:p>
            <a:pPr indent="0" lvl="0" marL="0" rtl="0" algn="l">
              <a:spcBef>
                <a:spcPts val="1200"/>
              </a:spcBef>
              <a:spcAft>
                <a:spcPts val="1200"/>
              </a:spcAft>
              <a:buNone/>
            </a:pPr>
            <a:r>
              <a:t/>
            </a:r>
            <a:endParaRPr sz="11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8" name="Shape 188"/>
        <p:cNvGrpSpPr/>
        <p:nvPr/>
      </p:nvGrpSpPr>
      <p:grpSpPr>
        <a:xfrm>
          <a:off x="0" y="0"/>
          <a:ext cx="0" cy="0"/>
          <a:chOff x="0" y="0"/>
          <a:chExt cx="0" cy="0"/>
        </a:xfrm>
      </p:grpSpPr>
      <p:sp>
        <p:nvSpPr>
          <p:cNvPr id="189" name="Google Shape;189;p32"/>
          <p:cNvSpPr txBox="1"/>
          <p:nvPr/>
        </p:nvSpPr>
        <p:spPr>
          <a:xfrm>
            <a:off x="172400" y="615600"/>
            <a:ext cx="8285700" cy="4442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GB" sz="1100">
                <a:solidFill>
                  <a:schemeClr val="dk1"/>
                </a:solidFill>
              </a:rPr>
              <a:t>Nouns</a:t>
            </a:r>
            <a:r>
              <a:rPr lang="en-GB" sz="1100">
                <a:solidFill>
                  <a:schemeClr val="dk1"/>
                </a:solidFill>
              </a:rPr>
              <a:t> will </a:t>
            </a:r>
            <a:r>
              <a:rPr lang="en-GB" sz="1100">
                <a:solidFill>
                  <a:schemeClr val="dk1"/>
                </a:solidFill>
              </a:rPr>
              <a:t>become</a:t>
            </a:r>
            <a:r>
              <a:rPr lang="en-GB" sz="1100">
                <a:solidFill>
                  <a:schemeClr val="dk1"/>
                </a:solidFill>
              </a:rPr>
              <a:t> classes {we are not saying them table because every db does not have tables and oops have classes}</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1️⃣ City</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2️⃣ Cinema/Theatre</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3️⃣Screen</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4️⃣Show</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5️⃣ Seat </a:t>
            </a:r>
            <a:endParaRPr sz="1100">
              <a:solidFill>
                <a:schemeClr val="dk1"/>
              </a:solidFill>
            </a:endParaRPr>
          </a:p>
          <a:p>
            <a:pPr indent="0" lvl="0" marL="457200" rtl="0" algn="l">
              <a:lnSpc>
                <a:spcPct val="115000"/>
              </a:lnSpc>
              <a:spcBef>
                <a:spcPts val="1200"/>
              </a:spcBef>
              <a:spcAft>
                <a:spcPts val="0"/>
              </a:spcAft>
              <a:buNone/>
            </a:pPr>
            <a:r>
              <a:rPr lang="en-GB" sz="1100">
                <a:solidFill>
                  <a:schemeClr val="dk1"/>
                </a:solidFill>
              </a:rPr>
              <a:t>Seat → SeatType {Recliner, Sofa, regular etc }    </a:t>
            </a:r>
            <a:endParaRPr sz="1100">
              <a:solidFill>
                <a:schemeClr val="dk1"/>
              </a:solidFill>
            </a:endParaRPr>
          </a:p>
          <a:p>
            <a:pPr indent="457200" lvl="0" marL="0" rtl="0" algn="l">
              <a:lnSpc>
                <a:spcPct val="115000"/>
              </a:lnSpc>
              <a:spcBef>
                <a:spcPts val="1200"/>
              </a:spcBef>
              <a:spcAft>
                <a:spcPts val="0"/>
              </a:spcAft>
              <a:buNone/>
            </a:pPr>
            <a:r>
              <a:rPr lang="en-GB" sz="1100">
                <a:solidFill>
                  <a:schemeClr val="dk1"/>
                </a:solidFill>
              </a:rPr>
              <a:t>Seat → SeatStatus { Available, Occupied, Blocked} </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6️⃣ Booking</a:t>
            </a:r>
            <a:endParaRPr sz="1100">
              <a:solidFill>
                <a:schemeClr val="dk1"/>
              </a:solidFill>
            </a:endParaRPr>
          </a:p>
          <a:p>
            <a:pPr indent="0" lvl="0" marL="0" rtl="0" algn="l">
              <a:lnSpc>
                <a:spcPct val="115000"/>
              </a:lnSpc>
              <a:spcBef>
                <a:spcPts val="1200"/>
              </a:spcBef>
              <a:spcAft>
                <a:spcPts val="1200"/>
              </a:spcAft>
              <a:buNone/>
            </a:pPr>
            <a:r>
              <a:rPr lang="en-GB" sz="1100">
                <a:solidFill>
                  <a:schemeClr val="dk1"/>
                </a:solidFill>
              </a:rPr>
              <a:t>7️⃣ BookingService</a:t>
            </a:r>
            <a:endParaRPr b="1" sz="2000">
              <a:solidFill>
                <a:schemeClr val="dk1"/>
              </a:solidFill>
              <a:latin typeface="Helvetica Neue"/>
              <a:ea typeface="Helvetica Neue"/>
              <a:cs typeface="Helvetica Neue"/>
              <a:sym typeface="Helvetica Neue"/>
            </a:endParaRPr>
          </a:p>
        </p:txBody>
      </p:sp>
      <p:sp>
        <p:nvSpPr>
          <p:cNvPr id="190" name="Google Shape;190;p32"/>
          <p:cNvSpPr txBox="1"/>
          <p:nvPr/>
        </p:nvSpPr>
        <p:spPr>
          <a:xfrm>
            <a:off x="172400" y="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Object Oriented Analysis</a:t>
            </a:r>
            <a:endParaRPr sz="2800">
              <a:solidFill>
                <a:srgbClr val="8E7CC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4" name="Shape 194"/>
        <p:cNvGrpSpPr/>
        <p:nvPr/>
      </p:nvGrpSpPr>
      <p:grpSpPr>
        <a:xfrm>
          <a:off x="0" y="0"/>
          <a:ext cx="0" cy="0"/>
          <a:chOff x="0" y="0"/>
          <a:chExt cx="0" cy="0"/>
        </a:xfrm>
      </p:grpSpPr>
      <p:sp>
        <p:nvSpPr>
          <p:cNvPr id="195" name="Google Shape;195;p33"/>
          <p:cNvSpPr txBox="1"/>
          <p:nvPr/>
        </p:nvSpPr>
        <p:spPr>
          <a:xfrm>
            <a:off x="172400" y="1139800"/>
            <a:ext cx="8285700" cy="3918000"/>
          </a:xfrm>
          <a:prstGeom prst="rect">
            <a:avLst/>
          </a:prstGeom>
          <a:noFill/>
          <a:ln>
            <a:noFill/>
          </a:ln>
        </p:spPr>
        <p:txBody>
          <a:bodyPr anchorCtr="0" anchor="ctr" bIns="91425" lIns="91425" spcFirstLastPara="1" rIns="91425" wrap="square" tIns="91425">
            <a:noAutofit/>
          </a:bodyPr>
          <a:lstStyle/>
          <a:p>
            <a:pPr indent="-406400" lvl="0" marL="457200" rtl="0" algn="l">
              <a:lnSpc>
                <a:spcPct val="115000"/>
              </a:lnSpc>
              <a:spcBef>
                <a:spcPts val="1200"/>
              </a:spcBef>
              <a:spcAft>
                <a:spcPts val="0"/>
              </a:spcAft>
              <a:buClr>
                <a:schemeClr val="dk1"/>
              </a:buClr>
              <a:buSzPts val="2800"/>
              <a:buChar char="●"/>
            </a:pPr>
            <a:r>
              <a:rPr lang="en-GB" sz="2800">
                <a:solidFill>
                  <a:schemeClr val="dk1"/>
                </a:solidFill>
              </a:rPr>
              <a:t> One </a:t>
            </a:r>
            <a:r>
              <a:rPr lang="en-GB" sz="2800">
                <a:solidFill>
                  <a:schemeClr val="dk1"/>
                </a:solidFill>
              </a:rPr>
              <a:t>City —---- many Cinemas</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en-GB" sz="2800">
                <a:solidFill>
                  <a:schemeClr val="dk1"/>
                </a:solidFill>
              </a:rPr>
              <a:t>One Cinema -—--- many Screen</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en-GB" sz="2800">
                <a:solidFill>
                  <a:schemeClr val="dk1"/>
                </a:solidFill>
              </a:rPr>
              <a:t>One Screen —---- many Show</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en-GB" sz="2800">
                <a:solidFill>
                  <a:schemeClr val="dk1"/>
                </a:solidFill>
              </a:rPr>
              <a:t>One Show   –—--- many Seats</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en-GB" sz="2800">
                <a:solidFill>
                  <a:schemeClr val="dk1"/>
                </a:solidFill>
              </a:rPr>
              <a:t>One Booking  –—-- many Seats  </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en-GB" sz="2800">
                <a:solidFill>
                  <a:schemeClr val="dk1"/>
                </a:solidFill>
              </a:rPr>
              <a:t>One Booking  –—-- one cinema </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en-GB" sz="2800">
                <a:solidFill>
                  <a:schemeClr val="dk1"/>
                </a:solidFill>
              </a:rPr>
              <a:t>One Booking  –—-- one show </a:t>
            </a:r>
            <a:endParaRPr b="1" sz="3700">
              <a:solidFill>
                <a:schemeClr val="dk1"/>
              </a:solidFill>
              <a:latin typeface="Helvetica Neue"/>
              <a:ea typeface="Helvetica Neue"/>
              <a:cs typeface="Helvetica Neue"/>
              <a:sym typeface="Helvetica Neue"/>
            </a:endParaRPr>
          </a:p>
        </p:txBody>
      </p:sp>
      <p:sp>
        <p:nvSpPr>
          <p:cNvPr id="196" name="Google Shape;196;p33"/>
          <p:cNvSpPr txBox="1"/>
          <p:nvPr/>
        </p:nvSpPr>
        <p:spPr>
          <a:xfrm>
            <a:off x="172400" y="402275"/>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Relationships between classes </a:t>
            </a:r>
            <a:endParaRPr sz="2800">
              <a:solidFill>
                <a:srgbClr val="8E7CC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311700" y="0"/>
            <a:ext cx="8520600" cy="469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LLD (Movie Ticket Booking)</a:t>
            </a:r>
            <a:endParaRPr/>
          </a:p>
        </p:txBody>
      </p:sp>
      <p:sp>
        <p:nvSpPr>
          <p:cNvPr id="202" name="Google Shape;202;p34"/>
          <p:cNvSpPr txBox="1"/>
          <p:nvPr>
            <p:ph idx="1" type="body"/>
          </p:nvPr>
        </p:nvSpPr>
        <p:spPr>
          <a:xfrm>
            <a:off x="19200" y="67050"/>
            <a:ext cx="9105600" cy="5747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 </a:t>
            </a:r>
            <a:endParaRPr/>
          </a:p>
        </p:txBody>
      </p:sp>
      <p:pic>
        <p:nvPicPr>
          <p:cNvPr id="203" name="Google Shape;203;p34"/>
          <p:cNvPicPr preferRelativeResize="0"/>
          <p:nvPr/>
        </p:nvPicPr>
        <p:blipFill>
          <a:blip r:embed="rId3">
            <a:alphaModFix/>
          </a:blip>
          <a:stretch>
            <a:fillRect/>
          </a:stretch>
        </p:blipFill>
        <p:spPr>
          <a:xfrm>
            <a:off x="549250" y="1063175"/>
            <a:ext cx="5255149" cy="40994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311700" y="67050"/>
            <a:ext cx="8520600" cy="584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Generate Booking Flow</a:t>
            </a:r>
            <a:endParaRPr/>
          </a:p>
        </p:txBody>
      </p:sp>
      <p:sp>
        <p:nvSpPr>
          <p:cNvPr id="209" name="Google Shape;209;p35"/>
          <p:cNvSpPr txBox="1"/>
          <p:nvPr>
            <p:ph idx="1" type="body"/>
          </p:nvPr>
        </p:nvSpPr>
        <p:spPr>
          <a:xfrm>
            <a:off x="311700" y="565125"/>
            <a:ext cx="8520600" cy="4003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100">
                <a:solidFill>
                  <a:schemeClr val="dk1"/>
                </a:solidFill>
              </a:rPr>
              <a:t>When updating seat status in the database, concurrency must be handled because multiple users may try to block the same seat at the same time. To prevent double booking, the seat update operation should be performed using a concurrency control mechanism such as </a:t>
            </a:r>
            <a:r>
              <a:rPr b="1" lang="en-GB" sz="1100">
                <a:solidFill>
                  <a:schemeClr val="dk1"/>
                </a:solidFill>
              </a:rPr>
              <a:t>Optimistic Locking</a:t>
            </a:r>
            <a:r>
              <a:rPr lang="en-GB" sz="1100">
                <a:solidFill>
                  <a:schemeClr val="dk1"/>
                </a:solidFill>
              </a:rPr>
              <a:t>, </a:t>
            </a:r>
            <a:r>
              <a:rPr b="1" lang="en-GB" sz="1100">
                <a:solidFill>
                  <a:schemeClr val="dk1"/>
                </a:solidFill>
              </a:rPr>
              <a:t>Atomic SQL Updates</a:t>
            </a:r>
            <a:r>
              <a:rPr lang="en-GB" sz="1100">
                <a:solidFill>
                  <a:schemeClr val="dk1"/>
                </a:solidFill>
              </a:rPr>
              <a:t>, or </a:t>
            </a:r>
            <a:r>
              <a:rPr b="1" lang="en-GB" sz="1100">
                <a:solidFill>
                  <a:schemeClr val="dk1"/>
                </a:solidFill>
              </a:rPr>
              <a:t>Database Row Locks using </a:t>
            </a:r>
            <a:r>
              <a:rPr b="1" lang="en-GB" sz="1100">
                <a:solidFill>
                  <a:srgbClr val="188038"/>
                </a:solidFill>
                <a:latin typeface="Roboto Mono"/>
                <a:ea typeface="Roboto Mono"/>
                <a:cs typeface="Roboto Mono"/>
                <a:sym typeface="Roboto Mono"/>
              </a:rPr>
              <a:t>SELECT ... FOR UPDATE</a:t>
            </a:r>
            <a:r>
              <a:rPr lang="en-GB" sz="1100">
                <a:solidFill>
                  <a:schemeClr val="dk1"/>
                </a:solidFill>
              </a:rPr>
              <a:t>.</a:t>
            </a:r>
            <a:endParaRPr/>
          </a:p>
        </p:txBody>
      </p:sp>
      <p:pic>
        <p:nvPicPr>
          <p:cNvPr id="210" name="Google Shape;210;p35"/>
          <p:cNvPicPr preferRelativeResize="0"/>
          <p:nvPr/>
        </p:nvPicPr>
        <p:blipFill>
          <a:blip r:embed="rId3">
            <a:alphaModFix/>
          </a:blip>
          <a:stretch>
            <a:fillRect/>
          </a:stretch>
        </p:blipFill>
        <p:spPr>
          <a:xfrm>
            <a:off x="3616167" y="1513475"/>
            <a:ext cx="4378633" cy="27241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type="title"/>
          </p:nvPr>
        </p:nvSpPr>
        <p:spPr>
          <a:xfrm>
            <a:off x="311700" y="95775"/>
            <a:ext cx="8520600" cy="594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Types of Database Locking</a:t>
            </a:r>
            <a:endParaRPr/>
          </a:p>
        </p:txBody>
      </p:sp>
      <p:sp>
        <p:nvSpPr>
          <p:cNvPr id="216" name="Google Shape;216;p36"/>
          <p:cNvSpPr txBox="1"/>
          <p:nvPr>
            <p:ph idx="1" type="body"/>
          </p:nvPr>
        </p:nvSpPr>
        <p:spPr>
          <a:xfrm>
            <a:off x="311700" y="545950"/>
            <a:ext cx="8520600" cy="4549800"/>
          </a:xfrm>
          <a:prstGeom prst="rect">
            <a:avLst/>
          </a:prstGeom>
        </p:spPr>
        <p:txBody>
          <a:bodyPr anchorCtr="0" anchor="t" bIns="91425" lIns="91425" spcFirstLastPara="1" rIns="91425" wrap="square" tIns="91425">
            <a:normAutofit lnSpcReduction="10000"/>
          </a:bodyPr>
          <a:lstStyle/>
          <a:p>
            <a:pPr indent="0" lvl="0" marL="0" rtl="0" algn="l">
              <a:spcBef>
                <a:spcPts val="2400"/>
              </a:spcBef>
              <a:spcAft>
                <a:spcPts val="0"/>
              </a:spcAft>
              <a:buNone/>
            </a:pPr>
            <a:r>
              <a:rPr b="1" lang="en-GB" sz="1100">
                <a:solidFill>
                  <a:schemeClr val="dk1"/>
                </a:solidFill>
              </a:rPr>
              <a:t>1️⃣ Pessimistic Locking: </a:t>
            </a:r>
            <a:r>
              <a:rPr lang="en-GB" sz="1100">
                <a:solidFill>
                  <a:schemeClr val="dk1"/>
                </a:solidFill>
              </a:rPr>
              <a:t>Assumes </a:t>
            </a:r>
            <a:r>
              <a:rPr b="1" lang="en-GB" sz="1100">
                <a:solidFill>
                  <a:schemeClr val="dk1"/>
                </a:solidFill>
              </a:rPr>
              <a:t>conflicts will happen</a:t>
            </a:r>
            <a:r>
              <a:rPr lang="en-GB" sz="1100">
                <a:solidFill>
                  <a:schemeClr val="dk1"/>
                </a:solidFill>
              </a:rPr>
              <a:t>, so the system </a:t>
            </a:r>
            <a:r>
              <a:rPr b="1" lang="en-GB" sz="1100">
                <a:solidFill>
                  <a:schemeClr val="dk1"/>
                </a:solidFill>
              </a:rPr>
              <a:t>locks the resource immediately</a:t>
            </a:r>
            <a:r>
              <a:rPr lang="en-GB" sz="1100">
                <a:solidFill>
                  <a:schemeClr val="dk1"/>
                </a:solidFill>
              </a:rPr>
              <a:t> to prevent other users from modifying it. Other transactions must </a:t>
            </a:r>
            <a:r>
              <a:rPr b="1" lang="en-GB" sz="1100">
                <a:solidFill>
                  <a:schemeClr val="dk1"/>
                </a:solidFill>
              </a:rPr>
              <a:t>wait until the lock is released</a:t>
            </a:r>
            <a:r>
              <a:rPr lang="en-GB" sz="1100">
                <a:solidFill>
                  <a:schemeClr val="dk1"/>
                </a:solidFill>
              </a:rPr>
              <a:t>.</a:t>
            </a:r>
            <a:endParaRPr sz="1100">
              <a:solidFill>
                <a:schemeClr val="dk1"/>
              </a:solidFill>
            </a:endParaRPr>
          </a:p>
          <a:p>
            <a:pPr indent="0" lvl="0" marL="0" rtl="0" algn="l">
              <a:spcBef>
                <a:spcPts val="2400"/>
              </a:spcBef>
              <a:spcAft>
                <a:spcPts val="0"/>
              </a:spcAft>
              <a:buClr>
                <a:schemeClr val="dk1"/>
              </a:buClr>
              <a:buSzPts val="1100"/>
              <a:buFont typeface="Arial"/>
              <a:buNone/>
            </a:pPr>
            <a:r>
              <a:rPr lang="en-GB" sz="1100">
                <a:solidFill>
                  <a:schemeClr val="dk1"/>
                </a:solidFill>
              </a:rPr>
              <a:t>SELECT * FROM seats WHERE seat_id = 'A1' FOR UPDATE;</a:t>
            </a:r>
            <a:endParaRPr sz="1100">
              <a:solidFill>
                <a:schemeClr val="dk1"/>
              </a:solidFill>
            </a:endParaRPr>
          </a:p>
          <a:p>
            <a:pPr indent="0" lvl="0" marL="0" rtl="0" algn="l">
              <a:spcBef>
                <a:spcPts val="600"/>
              </a:spcBef>
              <a:spcAft>
                <a:spcPts val="0"/>
              </a:spcAft>
              <a:buNone/>
            </a:pPr>
            <a:r>
              <a:rPr b="1" lang="en-GB" sz="1100">
                <a:solidFill>
                  <a:schemeClr val="dk1"/>
                </a:solidFill>
              </a:rPr>
              <a:t>2️⃣ Optimistic Locking: </a:t>
            </a:r>
            <a:r>
              <a:rPr lang="en-GB" sz="1100">
                <a:solidFill>
                  <a:schemeClr val="dk1"/>
                </a:solidFill>
              </a:rPr>
              <a:t>Assumes </a:t>
            </a:r>
            <a:r>
              <a:rPr b="1" lang="en-GB" sz="1100">
                <a:solidFill>
                  <a:schemeClr val="dk1"/>
                </a:solidFill>
              </a:rPr>
              <a:t>conflicts are rare</a:t>
            </a:r>
            <a:r>
              <a:rPr lang="en-GB" sz="1100">
                <a:solidFill>
                  <a:schemeClr val="dk1"/>
                </a:solidFill>
              </a:rPr>
              <a:t>, so no lock is applied initially. Instead, we </a:t>
            </a:r>
            <a:r>
              <a:rPr b="1" lang="en-GB" sz="1100">
                <a:solidFill>
                  <a:schemeClr val="dk1"/>
                </a:solidFill>
              </a:rPr>
              <a:t>check if the data changed before updating</a:t>
            </a:r>
            <a:r>
              <a:rPr lang="en-GB" sz="1100">
                <a:solidFill>
                  <a:schemeClr val="dk1"/>
                </a:solidFill>
              </a:rPr>
              <a:t>. This is usually done using a </a:t>
            </a:r>
            <a:r>
              <a:rPr b="1" lang="en-GB" sz="1100">
                <a:solidFill>
                  <a:schemeClr val="dk1"/>
                </a:solidFill>
              </a:rPr>
              <a:t>version field</a:t>
            </a:r>
            <a:r>
              <a:rPr lang="en-GB" sz="1100">
                <a:solidFill>
                  <a:schemeClr val="dk1"/>
                </a:solidFill>
              </a:rPr>
              <a:t>.</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seat_id | status | version</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A1      | AVAILABLE | 1</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UPDATE seats</a:t>
            </a:r>
            <a:endParaRPr sz="1100">
              <a:solidFill>
                <a:schemeClr val="dk1"/>
              </a:solidFill>
            </a:endParaRPr>
          </a:p>
          <a:p>
            <a:pPr indent="0" lvl="0" marL="0" rtl="0" algn="l">
              <a:spcBef>
                <a:spcPts val="1200"/>
              </a:spcBef>
              <a:spcAft>
                <a:spcPts val="0"/>
              </a:spcAft>
              <a:buNone/>
            </a:pPr>
            <a:r>
              <a:rPr lang="en-GB" sz="1100">
                <a:solidFill>
                  <a:schemeClr val="dk1"/>
                </a:solidFill>
              </a:rPr>
              <a:t>SET status = 'BLOCKED', version = version +1 WHERE seat_id='A1' AND version = 1;</a:t>
            </a:r>
            <a:endParaRPr sz="1100">
              <a:solidFill>
                <a:schemeClr val="dk1"/>
              </a:solidFill>
            </a:endParaRPr>
          </a:p>
          <a:p>
            <a:pPr indent="0" lvl="0" marL="0" rtl="0" algn="l">
              <a:spcBef>
                <a:spcPts val="1200"/>
              </a:spcBef>
              <a:spcAft>
                <a:spcPts val="0"/>
              </a:spcAft>
              <a:buNone/>
            </a:pPr>
            <a:r>
              <a:rPr lang="en-GB" sz="1100">
                <a:solidFill>
                  <a:schemeClr val="dk1"/>
                </a:solidFill>
              </a:rPr>
              <a:t>UPDATE seats</a:t>
            </a:r>
            <a:endParaRPr sz="1100">
              <a:solidFill>
                <a:schemeClr val="dk1"/>
              </a:solidFill>
            </a:endParaRPr>
          </a:p>
          <a:p>
            <a:pPr indent="0" lvl="0" marL="0" rtl="0" algn="l">
              <a:spcBef>
                <a:spcPts val="1200"/>
              </a:spcBef>
              <a:spcAft>
                <a:spcPts val="0"/>
              </a:spcAft>
              <a:buNone/>
            </a:pPr>
            <a:r>
              <a:rPr lang="en-GB" sz="1100">
                <a:solidFill>
                  <a:schemeClr val="dk1"/>
                </a:solidFill>
              </a:rPr>
              <a:t>SET status='BLOCKED', version=version+1 WHERE seat_id='A1' AND version=1;</a:t>
            </a:r>
            <a:endParaRPr sz="1100">
              <a:solidFill>
                <a:schemeClr val="dk1"/>
              </a:solidFill>
            </a:endParaRPr>
          </a:p>
          <a:p>
            <a:pPr indent="0" lvl="0" marL="0" rtl="0" algn="l">
              <a:spcBef>
                <a:spcPts val="1200"/>
              </a:spcBef>
              <a:spcAft>
                <a:spcPts val="0"/>
              </a:spcAft>
              <a:buNone/>
            </a:pPr>
            <a:r>
              <a:rPr lang="en-GB" sz="1100">
                <a:solidFill>
                  <a:schemeClr val="dk1"/>
                </a:solidFill>
              </a:rPr>
              <a:t>User1 read seat (version=1) </a:t>
            </a:r>
            <a:r>
              <a:rPr lang="en-GB" sz="1100">
                <a:solidFill>
                  <a:schemeClr val="dk1"/>
                </a:solidFill>
              </a:rPr>
              <a:t>User1 update → success → version=2</a:t>
            </a:r>
            <a:endParaRPr sz="1100">
              <a:solidFill>
                <a:schemeClr val="dk1"/>
              </a:solidFill>
            </a:endParaRPr>
          </a:p>
          <a:p>
            <a:pPr indent="0" lvl="0" marL="0" rtl="0" algn="l">
              <a:spcBef>
                <a:spcPts val="1200"/>
              </a:spcBef>
              <a:spcAft>
                <a:spcPts val="1200"/>
              </a:spcAft>
              <a:buNone/>
            </a:pPr>
            <a:r>
              <a:rPr lang="en-GB" sz="1100">
                <a:solidFill>
                  <a:schemeClr val="dk1"/>
                </a:solidFill>
              </a:rPr>
              <a:t>User2 read seat (version=1)  User2 update → fails</a:t>
            </a:r>
            <a:endParaRPr b="1" sz="11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7"/>
          <p:cNvSpPr txBox="1"/>
          <p:nvPr>
            <p:ph type="title"/>
          </p:nvPr>
        </p:nvSpPr>
        <p:spPr>
          <a:xfrm>
            <a:off x="311700" y="0"/>
            <a:ext cx="8520600" cy="605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Atomic SQL Updates </a:t>
            </a:r>
            <a:endParaRPr/>
          </a:p>
        </p:txBody>
      </p:sp>
      <p:sp>
        <p:nvSpPr>
          <p:cNvPr id="222" name="Google Shape;222;p37"/>
          <p:cNvSpPr txBox="1"/>
          <p:nvPr>
            <p:ph idx="1" type="body"/>
          </p:nvPr>
        </p:nvSpPr>
        <p:spPr>
          <a:xfrm>
            <a:off x="311700" y="605700"/>
            <a:ext cx="8520600" cy="396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a:solidFill>
                  <a:schemeClr val="dk1"/>
                </a:solidFill>
              </a:rPr>
              <a:t>An </a:t>
            </a:r>
            <a:r>
              <a:rPr b="1" lang="en-GB" sz="1100">
                <a:solidFill>
                  <a:schemeClr val="dk1"/>
                </a:solidFill>
              </a:rPr>
              <a:t>atomic update</a:t>
            </a:r>
            <a:r>
              <a:rPr lang="en-GB" sz="1100">
                <a:solidFill>
                  <a:schemeClr val="dk1"/>
                </a:solidFill>
              </a:rPr>
              <a:t> means a database operation that happens </a:t>
            </a:r>
            <a:r>
              <a:rPr b="1" lang="en-GB" sz="1100">
                <a:solidFill>
                  <a:schemeClr val="dk1"/>
                </a:solidFill>
              </a:rPr>
              <a:t>completely or not at all</a:t>
            </a:r>
            <a:r>
              <a:rPr lang="en-GB" sz="1100">
                <a:solidFill>
                  <a:schemeClr val="dk1"/>
                </a:solidFill>
              </a:rPr>
              <a:t>, and it is executed </a:t>
            </a:r>
            <a:r>
              <a:rPr b="1" lang="en-GB" sz="1100">
                <a:solidFill>
                  <a:schemeClr val="dk1"/>
                </a:solidFill>
              </a:rPr>
              <a:t>as a single indivisible operation</a:t>
            </a:r>
            <a:r>
              <a:rPr lang="en-GB" sz="1100">
                <a:solidFill>
                  <a:schemeClr val="dk1"/>
                </a:solidFill>
              </a:rPr>
              <a:t>.No other transaction can interfere </a:t>
            </a:r>
            <a:r>
              <a:rPr b="1" lang="en-GB" sz="1100">
                <a:solidFill>
                  <a:schemeClr val="dk1"/>
                </a:solidFill>
              </a:rPr>
              <a:t>between the check and the update</a:t>
            </a:r>
            <a:r>
              <a:rPr lang="en-GB" sz="1100">
                <a:solidFill>
                  <a:schemeClr val="dk1"/>
                </a:solidFill>
              </a:rPr>
              <a:t>.</a:t>
            </a:r>
            <a:endParaRPr sz="1100">
              <a:solidFill>
                <a:schemeClr val="dk1"/>
              </a:solidFill>
            </a:endParaRPr>
          </a:p>
          <a:p>
            <a:pPr indent="0" lvl="0" marL="0" rtl="0" algn="l">
              <a:spcBef>
                <a:spcPts val="1200"/>
              </a:spcBef>
              <a:spcAft>
                <a:spcPts val="0"/>
              </a:spcAft>
              <a:buNone/>
            </a:pPr>
            <a:r>
              <a:rPr lang="en-GB" sz="1100">
                <a:solidFill>
                  <a:schemeClr val="dk1"/>
                </a:solidFill>
              </a:rPr>
              <a:t>UPDATE seats SET status = 'BLOCKED' WHERE show_id = ? AND seat_id = ? AND status = 'AVAILABLE';</a:t>
            </a:r>
            <a:endParaRPr sz="1100">
              <a:solidFill>
                <a:schemeClr val="dk1"/>
              </a:solidFill>
            </a:endParaRPr>
          </a:p>
          <a:p>
            <a:pPr indent="0" lvl="0" marL="0" rtl="0" algn="l">
              <a:spcBef>
                <a:spcPts val="1200"/>
              </a:spcBef>
              <a:spcAft>
                <a:spcPts val="0"/>
              </a:spcAft>
              <a:buNone/>
            </a:pPr>
            <a:r>
              <a:rPr lang="en-GB" sz="1100">
                <a:solidFill>
                  <a:schemeClr val="dk1"/>
                </a:solidFill>
              </a:rPr>
              <a:t>Internally  Db checking : Check status +Update status </a:t>
            </a:r>
            <a:endParaRPr sz="1100">
              <a:solidFill>
                <a:schemeClr val="dk1"/>
              </a:solidFill>
            </a:endParaRPr>
          </a:p>
          <a:p>
            <a:pPr indent="0" lvl="0" marL="0" rtl="0" algn="l">
              <a:spcBef>
                <a:spcPts val="1200"/>
              </a:spcBef>
              <a:spcAft>
                <a:spcPts val="0"/>
              </a:spcAft>
              <a:buNone/>
            </a:pPr>
            <a:r>
              <a:rPr lang="en-GB" sz="1100">
                <a:solidFill>
                  <a:schemeClr val="dk1"/>
                </a:solidFill>
              </a:rPr>
              <a:t>It will only allow one user to update the db.</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1200"/>
              </a:spcBef>
              <a:spcAft>
                <a:spcPts val="1200"/>
              </a:spcAft>
              <a:buNone/>
            </a:pPr>
            <a:r>
              <a:t/>
            </a:r>
            <a:endParaRPr sz="11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6" name="Shape 226"/>
        <p:cNvGrpSpPr/>
        <p:nvPr/>
      </p:nvGrpSpPr>
      <p:grpSpPr>
        <a:xfrm>
          <a:off x="0" y="0"/>
          <a:ext cx="0" cy="0"/>
          <a:chOff x="0" y="0"/>
          <a:chExt cx="0" cy="0"/>
        </a:xfrm>
      </p:grpSpPr>
      <p:sp>
        <p:nvSpPr>
          <p:cNvPr id="227" name="Google Shape;227;p38"/>
          <p:cNvSpPr txBox="1"/>
          <p:nvPr/>
        </p:nvSpPr>
        <p:spPr>
          <a:xfrm>
            <a:off x="213725" y="615600"/>
            <a:ext cx="8285700" cy="4442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GB" sz="1100">
                <a:solidFill>
                  <a:schemeClr val="dk1"/>
                </a:solidFill>
              </a:rPr>
              <a:t>When designing </a:t>
            </a:r>
            <a:r>
              <a:rPr b="1" lang="en-GB" sz="1100">
                <a:solidFill>
                  <a:schemeClr val="dk1"/>
                </a:solidFill>
              </a:rPr>
              <a:t>notifications after booking completion</a:t>
            </a:r>
            <a:r>
              <a:rPr lang="en-GB" sz="1100">
                <a:solidFill>
                  <a:schemeClr val="dk1"/>
                </a:solidFill>
              </a:rPr>
              <a:t>, understanding </a:t>
            </a:r>
            <a:r>
              <a:rPr b="1" lang="en-GB" sz="1100">
                <a:solidFill>
                  <a:schemeClr val="dk1"/>
                </a:solidFill>
              </a:rPr>
              <a:t>Synchronous vs Asynchronous systems</a:t>
            </a:r>
            <a:r>
              <a:rPr lang="en-GB" sz="1100">
                <a:solidFill>
                  <a:schemeClr val="dk1"/>
                </a:solidFill>
              </a:rPr>
              <a:t> is important because it affects </a:t>
            </a:r>
            <a:r>
              <a:rPr b="1" lang="en-GB" sz="1100">
                <a:solidFill>
                  <a:schemeClr val="dk1"/>
                </a:solidFill>
              </a:rPr>
              <a:t>performance, reliability, and user experience</a:t>
            </a:r>
            <a:r>
              <a:rPr lang="en-GB" sz="1100">
                <a:solidFill>
                  <a:schemeClr val="dk1"/>
                </a:solidFill>
              </a:rPr>
              <a:t>. Systems like </a:t>
            </a:r>
            <a:r>
              <a:rPr b="1" lang="en-GB" sz="1100">
                <a:solidFill>
                  <a:schemeClr val="dk1"/>
                </a:solidFill>
              </a:rPr>
              <a:t>BookMyShow</a:t>
            </a:r>
            <a:r>
              <a:rPr lang="en-GB" sz="1100">
                <a:solidFill>
                  <a:schemeClr val="dk1"/>
                </a:solidFill>
              </a:rPr>
              <a:t> usually prefer </a:t>
            </a:r>
            <a:r>
              <a:rPr b="1" lang="en-GB" sz="1100">
                <a:solidFill>
                  <a:schemeClr val="dk1"/>
                </a:solidFill>
              </a:rPr>
              <a:t>asynchronous notifications</a:t>
            </a:r>
            <a:r>
              <a:rPr lang="en-GB"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
        <p:nvSpPr>
          <p:cNvPr id="228" name="Google Shape;228;p38"/>
          <p:cNvSpPr txBox="1"/>
          <p:nvPr/>
        </p:nvSpPr>
        <p:spPr>
          <a:xfrm>
            <a:off x="172400" y="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Synchronous VS Asynchronous Flow</a:t>
            </a:r>
            <a:endParaRPr sz="2800">
              <a:solidFill>
                <a:srgbClr val="8E7CC3"/>
              </a:solidFill>
            </a:endParaRPr>
          </a:p>
        </p:txBody>
      </p:sp>
      <p:pic>
        <p:nvPicPr>
          <p:cNvPr id="229" name="Google Shape;229;p38" title="Screenshot 2026-03-14 at 1.41.25 AM.png"/>
          <p:cNvPicPr preferRelativeResize="0"/>
          <p:nvPr/>
        </p:nvPicPr>
        <p:blipFill>
          <a:blip r:embed="rId4">
            <a:alphaModFix/>
          </a:blip>
          <a:stretch>
            <a:fillRect/>
          </a:stretch>
        </p:blipFill>
        <p:spPr>
          <a:xfrm>
            <a:off x="825950" y="2212574"/>
            <a:ext cx="7759323" cy="2401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9"/>
          <p:cNvSpPr txBox="1"/>
          <p:nvPr>
            <p:ph type="title"/>
          </p:nvPr>
        </p:nvSpPr>
        <p:spPr>
          <a:xfrm>
            <a:off x="311700" y="86200"/>
            <a:ext cx="8520600" cy="56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Design Patterns Overview:</a:t>
            </a:r>
            <a:endParaRPr/>
          </a:p>
        </p:txBody>
      </p:sp>
      <p:sp>
        <p:nvSpPr>
          <p:cNvPr id="235" name="Google Shape;235;p39"/>
          <p:cNvSpPr txBox="1"/>
          <p:nvPr>
            <p:ph idx="1" type="body"/>
          </p:nvPr>
        </p:nvSpPr>
        <p:spPr>
          <a:xfrm>
            <a:off x="291725" y="555525"/>
            <a:ext cx="9144000" cy="4482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 </a:t>
            </a:r>
            <a:endParaRPr/>
          </a:p>
        </p:txBody>
      </p:sp>
      <p:pic>
        <p:nvPicPr>
          <p:cNvPr id="236" name="Google Shape;236;p39"/>
          <p:cNvPicPr preferRelativeResize="0"/>
          <p:nvPr/>
        </p:nvPicPr>
        <p:blipFill>
          <a:blip r:embed="rId3">
            <a:alphaModFix/>
          </a:blip>
          <a:stretch>
            <a:fillRect/>
          </a:stretch>
        </p:blipFill>
        <p:spPr>
          <a:xfrm>
            <a:off x="3096100" y="555525"/>
            <a:ext cx="3429000" cy="44443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Strategy</a:t>
            </a:r>
            <a:r>
              <a:rPr lang="en-GB"/>
              <a:t> Design Pattern</a:t>
            </a:r>
            <a:endParaRPr/>
          </a:p>
        </p:txBody>
      </p:sp>
      <p:sp>
        <p:nvSpPr>
          <p:cNvPr id="242" name="Google Shape;242;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218181"/>
              </a:lnSpc>
              <a:spcBef>
                <a:spcPts val="3200"/>
              </a:spcBef>
              <a:spcAft>
                <a:spcPts val="0"/>
              </a:spcAft>
              <a:buClr>
                <a:schemeClr val="dk1"/>
              </a:buClr>
              <a:buSzPts val="1100"/>
              <a:buFont typeface="Arial"/>
              <a:buNone/>
            </a:pPr>
            <a:r>
              <a:rPr lang="en-GB" sz="1500">
                <a:solidFill>
                  <a:srgbClr val="242424"/>
                </a:solidFill>
                <a:highlight>
                  <a:srgbClr val="FFFFFF"/>
                </a:highlight>
                <a:latin typeface="Georgia"/>
                <a:ea typeface="Georgia"/>
                <a:cs typeface="Georgia"/>
                <a:sym typeface="Georgia"/>
              </a:rPr>
              <a:t>The primary goal of the Strategy pattern is to define a set of algorithms, encapsulate them in their classes, and make them interchangeable within context objects. Through this encapsulation, the Strategy pattern promotes the open/closed principle — software entities should be open for extension but closed for modification.</a:t>
            </a:r>
            <a:endParaRPr sz="1500">
              <a:solidFill>
                <a:srgbClr val="242424"/>
              </a:solidFill>
              <a:highlight>
                <a:srgbClr val="FFFFFF"/>
              </a:highlight>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1200"/>
              </a:spcAft>
              <a:buNone/>
            </a:pPr>
            <a:r>
              <a:rPr lang="en-GB"/>
              <a:t>Eg: UPI payments, Sorting Algorithms, Payment Methods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Strategy</a:t>
            </a:r>
            <a:r>
              <a:rPr lang="en-GB"/>
              <a:t> Design P</a:t>
            </a:r>
            <a:r>
              <a:rPr lang="en-GB"/>
              <a:t>attern: </a:t>
            </a:r>
            <a:r>
              <a:rPr lang="en-GB"/>
              <a:t> </a:t>
            </a:r>
            <a:endParaRPr/>
          </a:p>
        </p:txBody>
      </p:sp>
      <p:sp>
        <p:nvSpPr>
          <p:cNvPr id="248" name="Google Shape;248;p41"/>
          <p:cNvSpPr txBox="1"/>
          <p:nvPr>
            <p:ph idx="1" type="body"/>
          </p:nvPr>
        </p:nvSpPr>
        <p:spPr>
          <a:xfrm>
            <a:off x="311700" y="967400"/>
            <a:ext cx="8520600" cy="4080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 </a:t>
            </a:r>
            <a:endParaRPr/>
          </a:p>
        </p:txBody>
      </p:sp>
      <p:pic>
        <p:nvPicPr>
          <p:cNvPr id="249" name="Google Shape;249;p41"/>
          <p:cNvPicPr preferRelativeResize="0"/>
          <p:nvPr/>
        </p:nvPicPr>
        <p:blipFill>
          <a:blip r:embed="rId3">
            <a:alphaModFix/>
          </a:blip>
          <a:stretch>
            <a:fillRect/>
          </a:stretch>
        </p:blipFill>
        <p:spPr>
          <a:xfrm>
            <a:off x="603426" y="1152475"/>
            <a:ext cx="3366527" cy="384404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Factory Design Pattern </a:t>
            </a:r>
            <a:endParaRPr/>
          </a:p>
        </p:txBody>
      </p:sp>
      <p:sp>
        <p:nvSpPr>
          <p:cNvPr id="255" name="Google Shape;255;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218181"/>
              </a:lnSpc>
              <a:spcBef>
                <a:spcPts val="1800"/>
              </a:spcBef>
              <a:spcAft>
                <a:spcPts val="0"/>
              </a:spcAft>
              <a:buClr>
                <a:schemeClr val="dk1"/>
              </a:buClr>
              <a:buSzPts val="1100"/>
              <a:buFont typeface="Arial"/>
              <a:buNone/>
            </a:pPr>
            <a:r>
              <a:rPr lang="en-GB" sz="1500">
                <a:solidFill>
                  <a:srgbClr val="242424"/>
                </a:solidFill>
                <a:highlight>
                  <a:srgbClr val="FFFFFF"/>
                </a:highlight>
                <a:latin typeface="Georgia"/>
                <a:ea typeface="Georgia"/>
                <a:cs typeface="Georgia"/>
                <a:sym typeface="Georgia"/>
              </a:rPr>
              <a:t>The Factory Method pattern falls under the category of creational design patterns and is widely used to create objects </a:t>
            </a:r>
            <a:r>
              <a:rPr lang="en-GB" sz="1500">
                <a:solidFill>
                  <a:srgbClr val="242424"/>
                </a:solidFill>
                <a:highlight>
                  <a:srgbClr val="E8F3E8"/>
                </a:highlight>
                <a:latin typeface="Georgia"/>
                <a:ea typeface="Georgia"/>
                <a:cs typeface="Georgia"/>
                <a:sym typeface="Georgia"/>
              </a:rPr>
              <a:t>without specifying their exact class types. Instead of directly instantiating obj</a:t>
            </a:r>
            <a:r>
              <a:rPr lang="en-GB" sz="1500">
                <a:solidFill>
                  <a:srgbClr val="242424"/>
                </a:solidFill>
                <a:highlight>
                  <a:srgbClr val="FFFFFF"/>
                </a:highlight>
                <a:latin typeface="Georgia"/>
                <a:ea typeface="Georgia"/>
                <a:cs typeface="Georgia"/>
                <a:sym typeface="Georgia"/>
              </a:rPr>
              <a:t>ects using constructors, the Factory Method pattern delegates the responsibility of object creation to subclasses, allowing for greater flexibility and extensibility.</a:t>
            </a:r>
            <a:endParaRPr sz="1500">
              <a:solidFill>
                <a:srgbClr val="242424"/>
              </a:solidFill>
              <a:highlight>
                <a:srgbClr val="FFFFFF"/>
              </a:highlight>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None/>
            </a:pPr>
            <a:r>
              <a:rPr lang="en-GB"/>
              <a:t>Eg: UPI payments, Sorting Algorithms, Payment Methods  </a:t>
            </a:r>
            <a:endParaRPr/>
          </a:p>
          <a:p>
            <a:pPr indent="0" lvl="0" marL="0" rtl="0" algn="l">
              <a:spcBef>
                <a:spcPts val="120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GB"/>
              <a:t>Factory Design Pattern </a:t>
            </a:r>
            <a:endParaRPr/>
          </a:p>
          <a:p>
            <a:pPr indent="0" lvl="0" marL="0" rtl="0" algn="l">
              <a:spcBef>
                <a:spcPts val="0"/>
              </a:spcBef>
              <a:spcAft>
                <a:spcPts val="0"/>
              </a:spcAft>
              <a:buNone/>
            </a:pPr>
            <a:r>
              <a:t/>
            </a:r>
            <a:endParaRPr/>
          </a:p>
        </p:txBody>
      </p:sp>
      <p:sp>
        <p:nvSpPr>
          <p:cNvPr id="261" name="Google Shape;261;p43"/>
          <p:cNvSpPr txBox="1"/>
          <p:nvPr>
            <p:ph idx="1" type="body"/>
          </p:nvPr>
        </p:nvSpPr>
        <p:spPr>
          <a:xfrm>
            <a:off x="311700" y="1152475"/>
            <a:ext cx="8520600" cy="390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 </a:t>
            </a:r>
            <a:endParaRPr/>
          </a:p>
        </p:txBody>
      </p:sp>
      <p:pic>
        <p:nvPicPr>
          <p:cNvPr id="262" name="Google Shape;262;p43"/>
          <p:cNvPicPr preferRelativeResize="0"/>
          <p:nvPr/>
        </p:nvPicPr>
        <p:blipFill>
          <a:blip r:embed="rId3">
            <a:alphaModFix/>
          </a:blip>
          <a:stretch>
            <a:fillRect/>
          </a:stretch>
        </p:blipFill>
        <p:spPr>
          <a:xfrm>
            <a:off x="1034425" y="1152475"/>
            <a:ext cx="4125876" cy="3638999"/>
          </a:xfrm>
          <a:prstGeom prst="rect">
            <a:avLst/>
          </a:prstGeom>
          <a:noFill/>
          <a:ln>
            <a:noFill/>
          </a:ln>
        </p:spPr>
      </p:pic>
      <p:pic>
        <p:nvPicPr>
          <p:cNvPr id="263" name="Google Shape;263;p43"/>
          <p:cNvPicPr preferRelativeResize="0"/>
          <p:nvPr/>
        </p:nvPicPr>
        <p:blipFill>
          <a:blip r:embed="rId4">
            <a:alphaModFix/>
          </a:blip>
          <a:stretch>
            <a:fillRect/>
          </a:stretch>
        </p:blipFill>
        <p:spPr>
          <a:xfrm>
            <a:off x="4897874" y="1621438"/>
            <a:ext cx="3934424" cy="239457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7" name="Shape 267"/>
        <p:cNvGrpSpPr/>
        <p:nvPr/>
      </p:nvGrpSpPr>
      <p:grpSpPr>
        <a:xfrm>
          <a:off x="0" y="0"/>
          <a:ext cx="0" cy="0"/>
          <a:chOff x="0" y="0"/>
          <a:chExt cx="0" cy="0"/>
        </a:xfrm>
      </p:grpSpPr>
      <p:sp>
        <p:nvSpPr>
          <p:cNvPr id="268" name="Google Shape;268;p44"/>
          <p:cNvSpPr txBox="1"/>
          <p:nvPr/>
        </p:nvSpPr>
        <p:spPr>
          <a:xfrm>
            <a:off x="0" y="1130225"/>
            <a:ext cx="4406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chemeClr val="dk1"/>
                </a:solidFill>
              </a:rPr>
              <a:t>LLD Session III</a:t>
            </a:r>
            <a:endParaRPr sz="2400">
              <a:solidFill>
                <a:schemeClr val="dk1"/>
              </a:solidFill>
            </a:endParaRPr>
          </a:p>
        </p:txBody>
      </p:sp>
      <p:sp>
        <p:nvSpPr>
          <p:cNvPr id="269" name="Google Shape;269;p44"/>
          <p:cNvSpPr txBox="1"/>
          <p:nvPr/>
        </p:nvSpPr>
        <p:spPr>
          <a:xfrm>
            <a:off x="165900" y="1817325"/>
            <a:ext cx="4316700" cy="22908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100"/>
              </a:spcBef>
              <a:spcAft>
                <a:spcPts val="0"/>
              </a:spcAft>
              <a:buClr>
                <a:schemeClr val="dk1"/>
              </a:buClr>
              <a:buSzPts val="1600"/>
              <a:buChar char="●"/>
            </a:pPr>
            <a:r>
              <a:rPr lang="en-GB" sz="1600">
                <a:solidFill>
                  <a:schemeClr val="dk1"/>
                </a:solidFill>
              </a:rPr>
              <a:t>What We Discussed Previously?</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600">
                <a:solidFill>
                  <a:schemeClr val="dk1"/>
                </a:solidFill>
              </a:rPr>
              <a:t>Chain of Responsibility Design Pattern</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600">
                <a:solidFill>
                  <a:schemeClr val="dk1"/>
                </a:solidFill>
              </a:rPr>
              <a:t>Template Design Pattern</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600">
                <a:solidFill>
                  <a:schemeClr val="dk1"/>
                </a:solidFill>
              </a:rPr>
              <a:t>Retry Mechanism in Distributed System</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600">
                <a:solidFill>
                  <a:schemeClr val="dk1"/>
                </a:solidFill>
              </a:rPr>
              <a:t>Scalable Systems</a:t>
            </a:r>
            <a:endParaRPr sz="1600">
              <a:solidFill>
                <a:schemeClr val="dk1"/>
              </a:solidFill>
            </a:endParaRPr>
          </a:p>
          <a:p>
            <a:pPr indent="0" lvl="0" marL="457200" rtl="0" algn="l">
              <a:lnSpc>
                <a:spcPct val="150000"/>
              </a:lnSpc>
              <a:spcBef>
                <a:spcPts val="100"/>
              </a:spcBef>
              <a:spcAft>
                <a:spcPts val="100"/>
              </a:spcAft>
              <a:buNone/>
            </a:pPr>
            <a:r>
              <a:t/>
            </a:r>
            <a:endParaRPr sz="16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3" name="Shape 273"/>
        <p:cNvGrpSpPr/>
        <p:nvPr/>
      </p:nvGrpSpPr>
      <p:grpSpPr>
        <a:xfrm>
          <a:off x="0" y="0"/>
          <a:ext cx="0" cy="0"/>
          <a:chOff x="0" y="0"/>
          <a:chExt cx="0" cy="0"/>
        </a:xfrm>
      </p:grpSpPr>
      <p:sp>
        <p:nvSpPr>
          <p:cNvPr id="274" name="Google Shape;274;p45"/>
          <p:cNvSpPr txBox="1"/>
          <p:nvPr/>
        </p:nvSpPr>
        <p:spPr>
          <a:xfrm>
            <a:off x="213725" y="641750"/>
            <a:ext cx="8285700" cy="441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1100">
                <a:solidFill>
                  <a:schemeClr val="dk1"/>
                </a:solidFill>
              </a:rPr>
              <a:t>The </a:t>
            </a:r>
            <a:r>
              <a:rPr b="1" lang="en-GB" sz="1100">
                <a:solidFill>
                  <a:schemeClr val="dk1"/>
                </a:solidFill>
              </a:rPr>
              <a:t>Chain of Responsibility (CoR)</a:t>
            </a:r>
            <a:r>
              <a:rPr lang="en-GB" sz="1100">
                <a:solidFill>
                  <a:schemeClr val="dk1"/>
                </a:solidFill>
              </a:rPr>
              <a:t> is a behavioral design pattern that allows you to pass requests along a chain of handlers. Upon receiving a request, each handler decides either to process the request or to pass it to the next handler in the chain.</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Eg: ATM </a:t>
            </a:r>
            <a:r>
              <a:rPr lang="en-GB" sz="1100">
                <a:solidFill>
                  <a:schemeClr val="dk1"/>
                </a:solidFill>
              </a:rPr>
              <a:t>Dispenser, Error logs level</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1200"/>
              </a:spcAft>
              <a:buNone/>
            </a:pPr>
            <a:r>
              <a:rPr lang="en-GB" sz="1100">
                <a:solidFill>
                  <a:schemeClr val="dk1"/>
                </a:solidFill>
              </a:rPr>
              <a:t> </a:t>
            </a:r>
            <a:endParaRPr sz="1100">
              <a:solidFill>
                <a:schemeClr val="dk1"/>
              </a:solidFill>
            </a:endParaRPr>
          </a:p>
        </p:txBody>
      </p:sp>
      <p:sp>
        <p:nvSpPr>
          <p:cNvPr id="275" name="Google Shape;275;p45"/>
          <p:cNvSpPr txBox="1"/>
          <p:nvPr/>
        </p:nvSpPr>
        <p:spPr>
          <a:xfrm>
            <a:off x="172400" y="11495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Chain Of Responsibility Design Pattern </a:t>
            </a:r>
            <a:endParaRPr sz="2800">
              <a:solidFill>
                <a:srgbClr val="8E7CC3"/>
              </a:solidFill>
            </a:endParaRPr>
          </a:p>
        </p:txBody>
      </p:sp>
      <p:pic>
        <p:nvPicPr>
          <p:cNvPr id="276" name="Google Shape;276;p45" title="Gemini_Generated_Image_ay9vw1ay9vw1ay9v.png"/>
          <p:cNvPicPr preferRelativeResize="0"/>
          <p:nvPr/>
        </p:nvPicPr>
        <p:blipFill>
          <a:blip r:embed="rId4">
            <a:alphaModFix/>
          </a:blip>
          <a:stretch>
            <a:fillRect/>
          </a:stretch>
        </p:blipFill>
        <p:spPr>
          <a:xfrm>
            <a:off x="374925" y="1975925"/>
            <a:ext cx="5353723" cy="29588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6"/>
          <p:cNvSpPr txBox="1"/>
          <p:nvPr>
            <p:ph type="title"/>
          </p:nvPr>
        </p:nvSpPr>
        <p:spPr>
          <a:xfrm>
            <a:off x="311700" y="81075"/>
            <a:ext cx="8520600" cy="567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Loggers </a:t>
            </a:r>
            <a:endParaRPr/>
          </a:p>
        </p:txBody>
      </p:sp>
      <p:sp>
        <p:nvSpPr>
          <p:cNvPr id="282" name="Google Shape;282;p46"/>
          <p:cNvSpPr txBox="1"/>
          <p:nvPr>
            <p:ph idx="1" type="body"/>
          </p:nvPr>
        </p:nvSpPr>
        <p:spPr>
          <a:xfrm>
            <a:off x="311700" y="648375"/>
            <a:ext cx="8893500" cy="4494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3" name="Google Shape;283;p46"/>
          <p:cNvPicPr preferRelativeResize="0"/>
          <p:nvPr/>
        </p:nvPicPr>
        <p:blipFill>
          <a:blip r:embed="rId3">
            <a:alphaModFix/>
          </a:blip>
          <a:stretch>
            <a:fillRect/>
          </a:stretch>
        </p:blipFill>
        <p:spPr>
          <a:xfrm>
            <a:off x="311700" y="737025"/>
            <a:ext cx="3651824" cy="3579624"/>
          </a:xfrm>
          <a:prstGeom prst="rect">
            <a:avLst/>
          </a:prstGeom>
          <a:noFill/>
          <a:ln>
            <a:noFill/>
          </a:ln>
        </p:spPr>
      </p:pic>
      <p:pic>
        <p:nvPicPr>
          <p:cNvPr id="284" name="Google Shape;284;p46"/>
          <p:cNvPicPr preferRelativeResize="0"/>
          <p:nvPr/>
        </p:nvPicPr>
        <p:blipFill>
          <a:blip r:embed="rId4">
            <a:alphaModFix/>
          </a:blip>
          <a:stretch>
            <a:fillRect/>
          </a:stretch>
        </p:blipFill>
        <p:spPr>
          <a:xfrm>
            <a:off x="4459725" y="648375"/>
            <a:ext cx="4482425" cy="2599326"/>
          </a:xfrm>
          <a:prstGeom prst="rect">
            <a:avLst/>
          </a:prstGeom>
          <a:noFill/>
          <a:ln>
            <a:noFill/>
          </a:ln>
        </p:spPr>
      </p:pic>
      <p:pic>
        <p:nvPicPr>
          <p:cNvPr id="285" name="Google Shape;285;p46"/>
          <p:cNvPicPr preferRelativeResize="0"/>
          <p:nvPr/>
        </p:nvPicPr>
        <p:blipFill>
          <a:blip r:embed="rId5">
            <a:alphaModFix/>
          </a:blip>
          <a:stretch>
            <a:fillRect/>
          </a:stretch>
        </p:blipFill>
        <p:spPr>
          <a:xfrm>
            <a:off x="5816325" y="3532925"/>
            <a:ext cx="3125825" cy="1418724"/>
          </a:xfrm>
          <a:prstGeom prst="rect">
            <a:avLst/>
          </a:prstGeom>
          <a:noFill/>
          <a:ln>
            <a:noFill/>
          </a:ln>
        </p:spPr>
      </p:pic>
      <p:pic>
        <p:nvPicPr>
          <p:cNvPr id="286" name="Google Shape;286;p46"/>
          <p:cNvPicPr preferRelativeResize="0"/>
          <p:nvPr/>
        </p:nvPicPr>
        <p:blipFill>
          <a:blip r:embed="rId6">
            <a:alphaModFix/>
          </a:blip>
          <a:stretch>
            <a:fillRect/>
          </a:stretch>
        </p:blipFill>
        <p:spPr>
          <a:xfrm>
            <a:off x="3262825" y="3581200"/>
            <a:ext cx="2127925" cy="11940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0" name="Shape 290"/>
        <p:cNvGrpSpPr/>
        <p:nvPr/>
      </p:nvGrpSpPr>
      <p:grpSpPr>
        <a:xfrm>
          <a:off x="0" y="0"/>
          <a:ext cx="0" cy="0"/>
          <a:chOff x="0" y="0"/>
          <a:chExt cx="0" cy="0"/>
        </a:xfrm>
      </p:grpSpPr>
      <p:sp>
        <p:nvSpPr>
          <p:cNvPr id="291" name="Google Shape;291;p47"/>
          <p:cNvSpPr txBox="1"/>
          <p:nvPr/>
        </p:nvSpPr>
        <p:spPr>
          <a:xfrm>
            <a:off x="213725" y="641750"/>
            <a:ext cx="8285700" cy="441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1100">
                <a:solidFill>
                  <a:schemeClr val="dk1"/>
                </a:solidFill>
              </a:rPr>
              <a:t>The </a:t>
            </a:r>
            <a:r>
              <a:rPr b="1" lang="en-GB" sz="1100">
                <a:solidFill>
                  <a:schemeClr val="dk1"/>
                </a:solidFill>
              </a:rPr>
              <a:t>Template Method Design Pattern</a:t>
            </a:r>
            <a:r>
              <a:rPr lang="en-GB" sz="1100">
                <a:solidFill>
                  <a:schemeClr val="dk1"/>
                </a:solidFill>
              </a:rPr>
              <a:t> is a behavioral design pattern that defines the skeleton of an algorithm in a method, deferring some steps to subclasses. It lets subclasses redefine certain steps of an algorithm without changing the algorithm's structure.</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Eg: ATM Dispenser, Error logs level</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1200"/>
              </a:spcAft>
              <a:buNone/>
            </a:pPr>
            <a:r>
              <a:rPr lang="en-GB" sz="1100">
                <a:solidFill>
                  <a:schemeClr val="dk1"/>
                </a:solidFill>
              </a:rPr>
              <a:t> </a:t>
            </a:r>
            <a:endParaRPr sz="1100">
              <a:solidFill>
                <a:schemeClr val="dk1"/>
              </a:solidFill>
            </a:endParaRPr>
          </a:p>
        </p:txBody>
      </p:sp>
      <p:sp>
        <p:nvSpPr>
          <p:cNvPr id="292" name="Google Shape;292;p47"/>
          <p:cNvSpPr txBox="1"/>
          <p:nvPr/>
        </p:nvSpPr>
        <p:spPr>
          <a:xfrm>
            <a:off x="172400" y="11495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Template Design Pattern </a:t>
            </a:r>
            <a:endParaRPr sz="2800">
              <a:solidFill>
                <a:srgbClr val="8E7CC3"/>
              </a:solidFill>
            </a:endParaRPr>
          </a:p>
        </p:txBody>
      </p:sp>
      <p:pic>
        <p:nvPicPr>
          <p:cNvPr id="293" name="Google Shape;293;p47" title="Gemini_Generated_Image_mbtx8imbtx8imbtx.png"/>
          <p:cNvPicPr preferRelativeResize="0"/>
          <p:nvPr/>
        </p:nvPicPr>
        <p:blipFill>
          <a:blip r:embed="rId4">
            <a:alphaModFix/>
          </a:blip>
          <a:stretch>
            <a:fillRect/>
          </a:stretch>
        </p:blipFill>
        <p:spPr>
          <a:xfrm>
            <a:off x="851176" y="1900047"/>
            <a:ext cx="5394801" cy="29423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8"/>
          <p:cNvSpPr txBox="1"/>
          <p:nvPr>
            <p:ph type="title"/>
          </p:nvPr>
        </p:nvSpPr>
        <p:spPr>
          <a:xfrm>
            <a:off x="352250" y="171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Template Design Pattern </a:t>
            </a:r>
            <a:endParaRPr/>
          </a:p>
        </p:txBody>
      </p:sp>
      <p:sp>
        <p:nvSpPr>
          <p:cNvPr id="299" name="Google Shape;299;p48"/>
          <p:cNvSpPr txBox="1"/>
          <p:nvPr>
            <p:ph idx="1" type="body"/>
          </p:nvPr>
        </p:nvSpPr>
        <p:spPr>
          <a:xfrm>
            <a:off x="311700" y="790375"/>
            <a:ext cx="8520600" cy="4353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00" name="Google Shape;300;p48"/>
          <p:cNvPicPr preferRelativeResize="0"/>
          <p:nvPr/>
        </p:nvPicPr>
        <p:blipFill>
          <a:blip r:embed="rId3">
            <a:alphaModFix/>
          </a:blip>
          <a:stretch>
            <a:fillRect/>
          </a:stretch>
        </p:blipFill>
        <p:spPr>
          <a:xfrm>
            <a:off x="352251" y="875875"/>
            <a:ext cx="3292449" cy="3837976"/>
          </a:xfrm>
          <a:prstGeom prst="rect">
            <a:avLst/>
          </a:prstGeom>
          <a:noFill/>
          <a:ln>
            <a:noFill/>
          </a:ln>
        </p:spPr>
      </p:pic>
      <p:pic>
        <p:nvPicPr>
          <p:cNvPr id="301" name="Google Shape;301;p48"/>
          <p:cNvPicPr preferRelativeResize="0"/>
          <p:nvPr/>
        </p:nvPicPr>
        <p:blipFill>
          <a:blip r:embed="rId4">
            <a:alphaModFix/>
          </a:blip>
          <a:stretch>
            <a:fillRect/>
          </a:stretch>
        </p:blipFill>
        <p:spPr>
          <a:xfrm>
            <a:off x="6280598" y="790374"/>
            <a:ext cx="2430850" cy="2256000"/>
          </a:xfrm>
          <a:prstGeom prst="rect">
            <a:avLst/>
          </a:prstGeom>
          <a:noFill/>
          <a:ln>
            <a:noFill/>
          </a:ln>
        </p:spPr>
      </p:pic>
      <p:pic>
        <p:nvPicPr>
          <p:cNvPr id="302" name="Google Shape;302;p48"/>
          <p:cNvPicPr preferRelativeResize="0"/>
          <p:nvPr/>
        </p:nvPicPr>
        <p:blipFill>
          <a:blip r:embed="rId5">
            <a:alphaModFix/>
          </a:blip>
          <a:stretch>
            <a:fillRect/>
          </a:stretch>
        </p:blipFill>
        <p:spPr>
          <a:xfrm>
            <a:off x="3747225" y="1562738"/>
            <a:ext cx="2430851" cy="1074688"/>
          </a:xfrm>
          <a:prstGeom prst="rect">
            <a:avLst/>
          </a:prstGeom>
          <a:noFill/>
          <a:ln>
            <a:noFill/>
          </a:ln>
        </p:spPr>
      </p:pic>
      <p:pic>
        <p:nvPicPr>
          <p:cNvPr id="303" name="Google Shape;303;p48"/>
          <p:cNvPicPr preferRelativeResize="0"/>
          <p:nvPr/>
        </p:nvPicPr>
        <p:blipFill>
          <a:blip r:embed="rId6">
            <a:alphaModFix/>
          </a:blip>
          <a:stretch>
            <a:fillRect/>
          </a:stretch>
        </p:blipFill>
        <p:spPr>
          <a:xfrm>
            <a:off x="4002525" y="3322015"/>
            <a:ext cx="2175550" cy="93635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7" name="Shape 307"/>
        <p:cNvGrpSpPr/>
        <p:nvPr/>
      </p:nvGrpSpPr>
      <p:grpSpPr>
        <a:xfrm>
          <a:off x="0" y="0"/>
          <a:ext cx="0" cy="0"/>
          <a:chOff x="0" y="0"/>
          <a:chExt cx="0" cy="0"/>
        </a:xfrm>
      </p:grpSpPr>
      <p:sp>
        <p:nvSpPr>
          <p:cNvPr id="308" name="Google Shape;308;p49"/>
          <p:cNvSpPr txBox="1"/>
          <p:nvPr/>
        </p:nvSpPr>
        <p:spPr>
          <a:xfrm>
            <a:off x="213725" y="641750"/>
            <a:ext cx="8285700" cy="441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1500">
                <a:solidFill>
                  <a:schemeClr val="dk1"/>
                </a:solidFill>
              </a:rPr>
              <a:t>You clicked ‘Pay’… money got deducted… but order failed. What happened?</a:t>
            </a:r>
            <a:endParaRPr sz="1500">
              <a:solidFill>
                <a:schemeClr val="dk1"/>
              </a:solidFill>
            </a:endParaRPr>
          </a:p>
          <a:p>
            <a:pPr indent="0" lvl="0" marL="0" rtl="0" algn="l">
              <a:lnSpc>
                <a:spcPct val="115000"/>
              </a:lnSpc>
              <a:spcBef>
                <a:spcPts val="1200"/>
              </a:spcBef>
              <a:spcAft>
                <a:spcPts val="0"/>
              </a:spcAft>
              <a:buNone/>
            </a:pPr>
            <a:r>
              <a:rPr b="1" lang="en-GB">
                <a:solidFill>
                  <a:srgbClr val="242424"/>
                </a:solidFill>
                <a:highlight>
                  <a:srgbClr val="FFFFFF"/>
                </a:highlight>
                <a:latin typeface="Georgia"/>
                <a:ea typeface="Georgia"/>
                <a:cs typeface="Georgia"/>
                <a:sym typeface="Georgia"/>
              </a:rPr>
              <a:t>Retrying</a:t>
            </a:r>
            <a:r>
              <a:rPr lang="en-GB">
                <a:solidFill>
                  <a:srgbClr val="242424"/>
                </a:solidFill>
                <a:highlight>
                  <a:srgbClr val="FFFFFF"/>
                </a:highlight>
                <a:latin typeface="Georgia"/>
                <a:ea typeface="Georgia"/>
                <a:cs typeface="Georgia"/>
                <a:sym typeface="Georgia"/>
              </a:rPr>
              <a:t> helps systems gracefully recover from these </a:t>
            </a:r>
            <a:r>
              <a:rPr i="1" lang="en-GB">
                <a:solidFill>
                  <a:srgbClr val="242424"/>
                </a:solidFill>
                <a:highlight>
                  <a:srgbClr val="FFFFFF"/>
                </a:highlight>
                <a:latin typeface="Georgia"/>
                <a:ea typeface="Georgia"/>
                <a:cs typeface="Georgia"/>
                <a:sym typeface="Georgia"/>
              </a:rPr>
              <a:t>temporary</a:t>
            </a:r>
            <a:r>
              <a:rPr lang="en-GB">
                <a:solidFill>
                  <a:srgbClr val="242424"/>
                </a:solidFill>
                <a:highlight>
                  <a:srgbClr val="FFFFFF"/>
                </a:highlight>
                <a:latin typeface="Georgia"/>
                <a:ea typeface="Georgia"/>
                <a:cs typeface="Georgia"/>
                <a:sym typeface="Georgia"/>
              </a:rPr>
              <a:t> failures instead of failing outright.</a:t>
            </a:r>
            <a:endParaRPr sz="1500">
              <a:solidFill>
                <a:schemeClr val="dk1"/>
              </a:solidFill>
            </a:endParaRPr>
          </a:p>
          <a:p>
            <a:pPr indent="0" lvl="0" marL="0" rtl="0" algn="l">
              <a:lnSpc>
                <a:spcPct val="115000"/>
              </a:lnSpc>
              <a:spcBef>
                <a:spcPts val="1800"/>
              </a:spcBef>
              <a:spcAft>
                <a:spcPts val="0"/>
              </a:spcAft>
              <a:buNone/>
            </a:pPr>
            <a:r>
              <a:rPr b="1" lang="en-GB" sz="2100">
                <a:solidFill>
                  <a:schemeClr val="dk1"/>
                </a:solidFill>
              </a:rPr>
              <a:t>1. Transient Failures (Temporary)</a:t>
            </a:r>
            <a:endParaRPr b="1" sz="2100">
              <a:solidFill>
                <a:schemeClr val="dk1"/>
              </a:solidFill>
            </a:endParaRPr>
          </a:p>
          <a:p>
            <a:pPr indent="0" lvl="0" marL="381000" marR="381000" rtl="0" algn="l">
              <a:lnSpc>
                <a:spcPct val="115000"/>
              </a:lnSpc>
              <a:spcBef>
                <a:spcPts val="1200"/>
              </a:spcBef>
              <a:spcAft>
                <a:spcPts val="0"/>
              </a:spcAft>
              <a:buNone/>
            </a:pPr>
            <a:r>
              <a:rPr lang="en-GB" sz="1500">
                <a:solidFill>
                  <a:schemeClr val="dk1"/>
                </a:solidFill>
              </a:rPr>
              <a:t>Failures that resolve on their own after some time</a:t>
            </a:r>
            <a:endParaRPr sz="1500">
              <a:solidFill>
                <a:schemeClr val="dk1"/>
              </a:solidFill>
            </a:endParaRPr>
          </a:p>
          <a:p>
            <a:pPr indent="0" lvl="0" marL="0" rtl="0" algn="l">
              <a:lnSpc>
                <a:spcPct val="115000"/>
              </a:lnSpc>
              <a:spcBef>
                <a:spcPts val="1400"/>
              </a:spcBef>
              <a:spcAft>
                <a:spcPts val="0"/>
              </a:spcAft>
              <a:buNone/>
            </a:pPr>
            <a:r>
              <a:rPr b="1" lang="en-GB" sz="1700">
                <a:solidFill>
                  <a:schemeClr val="dk1"/>
                </a:solidFill>
              </a:rPr>
              <a:t>Examples:</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GB" sz="1500">
                <a:solidFill>
                  <a:schemeClr val="dk1"/>
                </a:solidFill>
              </a:rPr>
              <a:t>Network timeout</a:t>
            </a:r>
            <a:br>
              <a:rPr lang="en-GB"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Temporary DB unavailability</a:t>
            </a:r>
            <a:br>
              <a:rPr lang="en-GB"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Service overloaded (HTTP 503)</a:t>
            </a:r>
            <a:endParaRPr sz="1500">
              <a:solidFill>
                <a:schemeClr val="dk1"/>
              </a:solidFill>
            </a:endParaRPr>
          </a:p>
          <a:p>
            <a:pPr indent="0" lvl="0" marL="0" rtl="0" algn="l">
              <a:lnSpc>
                <a:spcPct val="115000"/>
              </a:lnSpc>
              <a:spcBef>
                <a:spcPts val="1200"/>
              </a:spcBef>
              <a:spcAft>
                <a:spcPts val="0"/>
              </a:spcAft>
              <a:buNone/>
            </a:pPr>
            <a:r>
              <a:rPr lang="en-GB" sz="1500">
                <a:solidFill>
                  <a:schemeClr val="dk1"/>
                </a:solidFill>
              </a:rPr>
              <a:t>Retry can fix this</a:t>
            </a:r>
            <a:endParaRPr sz="1500">
              <a:solidFill>
                <a:schemeClr val="dk1"/>
              </a:solidFill>
            </a:endParaRPr>
          </a:p>
          <a:p>
            <a:pPr indent="0" lvl="0" marL="0" rtl="0" algn="l">
              <a:lnSpc>
                <a:spcPct val="115000"/>
              </a:lnSpc>
              <a:spcBef>
                <a:spcPts val="1200"/>
              </a:spcBef>
              <a:spcAft>
                <a:spcPts val="1200"/>
              </a:spcAft>
              <a:buNone/>
            </a:pPr>
            <a:r>
              <a:t/>
            </a:r>
            <a:endParaRPr sz="1500">
              <a:solidFill>
                <a:schemeClr val="dk1"/>
              </a:solidFill>
            </a:endParaRPr>
          </a:p>
        </p:txBody>
      </p:sp>
      <p:sp>
        <p:nvSpPr>
          <p:cNvPr id="309" name="Google Shape;309;p49"/>
          <p:cNvSpPr txBox="1"/>
          <p:nvPr/>
        </p:nvSpPr>
        <p:spPr>
          <a:xfrm>
            <a:off x="172400" y="11495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Why Do We Need Retries ?</a:t>
            </a:r>
            <a:endParaRPr sz="2800">
              <a:solidFill>
                <a:srgbClr val="8E7CC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3" name="Shape 313"/>
        <p:cNvGrpSpPr/>
        <p:nvPr/>
      </p:nvGrpSpPr>
      <p:grpSpPr>
        <a:xfrm>
          <a:off x="0" y="0"/>
          <a:ext cx="0" cy="0"/>
          <a:chOff x="0" y="0"/>
          <a:chExt cx="0" cy="0"/>
        </a:xfrm>
      </p:grpSpPr>
      <p:sp>
        <p:nvSpPr>
          <p:cNvPr id="314" name="Google Shape;314;p50"/>
          <p:cNvSpPr txBox="1"/>
          <p:nvPr/>
        </p:nvSpPr>
        <p:spPr>
          <a:xfrm>
            <a:off x="213725" y="641750"/>
            <a:ext cx="8285700" cy="441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GB" sz="2200">
                <a:solidFill>
                  <a:schemeClr val="dk1"/>
                </a:solidFill>
              </a:rPr>
              <a:t>2.  Permanent Failures</a:t>
            </a:r>
            <a:endParaRPr b="1" sz="22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sz="1600">
                <a:solidFill>
                  <a:schemeClr val="dk1"/>
                </a:solidFill>
              </a:rPr>
              <a:t>Failures that will NOT succeed even if retried</a:t>
            </a:r>
            <a:endParaRPr sz="16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800">
                <a:solidFill>
                  <a:schemeClr val="dk1"/>
                </a:solidFill>
              </a:rPr>
              <a:t>Examples:</a:t>
            </a:r>
            <a:endParaRPr b="1" sz="18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rPr>
              <a:t>Invalid input (wrong account number)</a:t>
            </a:r>
            <a:br>
              <a:rPr lang="en-GB"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Authentication failure</a:t>
            </a:r>
            <a:br>
              <a:rPr lang="en-GB"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Business rule failure (insufficient balance)</a:t>
            </a:r>
            <a:br>
              <a:rPr lang="en-GB" sz="1600">
                <a:solidFill>
                  <a:schemeClr val="dk1"/>
                </a:solidFill>
              </a:rPr>
            </a:br>
            <a:endParaRPr sz="16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GB" sz="1600">
                <a:solidFill>
                  <a:schemeClr val="dk1"/>
                </a:solidFill>
              </a:rPr>
              <a:t>👉 Key idea:</a:t>
            </a:r>
            <a:br>
              <a:rPr lang="en-GB" sz="1600">
                <a:solidFill>
                  <a:schemeClr val="dk1"/>
                </a:solidFill>
              </a:rPr>
            </a:br>
            <a:r>
              <a:rPr lang="en-GB" sz="1600">
                <a:solidFill>
                  <a:schemeClr val="dk1"/>
                </a:solidFill>
              </a:rPr>
              <a:t> </a:t>
            </a:r>
            <a:r>
              <a:rPr b="1" lang="en-GB" sz="1600">
                <a:solidFill>
                  <a:schemeClr val="dk1"/>
                </a:solidFill>
              </a:rPr>
              <a:t>Retry is useless (and harmful)</a:t>
            </a:r>
            <a:endParaRPr sz="1600">
              <a:solidFill>
                <a:schemeClr val="dk1"/>
              </a:solidFill>
            </a:endParaRPr>
          </a:p>
        </p:txBody>
      </p:sp>
      <p:sp>
        <p:nvSpPr>
          <p:cNvPr id="315" name="Google Shape;315;p50"/>
          <p:cNvSpPr txBox="1"/>
          <p:nvPr/>
        </p:nvSpPr>
        <p:spPr>
          <a:xfrm>
            <a:off x="172400" y="11495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Failures In System </a:t>
            </a:r>
            <a:endParaRPr sz="2800">
              <a:solidFill>
                <a:srgbClr val="8E7CC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9" name="Shape 319"/>
        <p:cNvGrpSpPr/>
        <p:nvPr/>
      </p:nvGrpSpPr>
      <p:grpSpPr>
        <a:xfrm>
          <a:off x="0" y="0"/>
          <a:ext cx="0" cy="0"/>
          <a:chOff x="0" y="0"/>
          <a:chExt cx="0" cy="0"/>
        </a:xfrm>
      </p:grpSpPr>
      <p:sp>
        <p:nvSpPr>
          <p:cNvPr id="320" name="Google Shape;320;p51"/>
          <p:cNvSpPr txBox="1"/>
          <p:nvPr/>
        </p:nvSpPr>
        <p:spPr>
          <a:xfrm>
            <a:off x="213725" y="641750"/>
            <a:ext cx="8285700" cy="441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GB" sz="1100">
                <a:solidFill>
                  <a:schemeClr val="dk1"/>
                </a:solidFill>
              </a:rPr>
              <a:t>An </a:t>
            </a:r>
            <a:r>
              <a:rPr b="1" lang="en-GB" sz="1100">
                <a:solidFill>
                  <a:schemeClr val="dk1"/>
                </a:solidFill>
              </a:rPr>
              <a:t>Idempotent</a:t>
            </a:r>
            <a:r>
              <a:rPr lang="en-GB" sz="1100">
                <a:solidFill>
                  <a:schemeClr val="dk1"/>
                </a:solidFill>
              </a:rPr>
              <a:t> request is an operation that can be performed multiple times without changing the result beyond the initial application. In simpler terms: </a:t>
            </a:r>
            <a:r>
              <a:rPr b="1" lang="en-GB" sz="1100">
                <a:solidFill>
                  <a:schemeClr val="dk1"/>
                </a:solidFill>
              </a:rPr>
              <a:t>If you do it once or 100 times, the state of the system remains the same as if you did it only once.</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1200"/>
              </a:spcAft>
              <a:buNone/>
            </a:pPr>
            <a:r>
              <a:t/>
            </a:r>
            <a:endParaRPr b="1" sz="1100">
              <a:solidFill>
                <a:schemeClr val="dk1"/>
              </a:solidFill>
            </a:endParaRPr>
          </a:p>
        </p:txBody>
      </p:sp>
      <p:sp>
        <p:nvSpPr>
          <p:cNvPr id="321" name="Google Shape;321;p51"/>
          <p:cNvSpPr txBox="1"/>
          <p:nvPr/>
        </p:nvSpPr>
        <p:spPr>
          <a:xfrm>
            <a:off x="172400" y="11495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Idempotent Requests ?</a:t>
            </a:r>
            <a:endParaRPr sz="2800">
              <a:solidFill>
                <a:srgbClr val="8E7CC3"/>
              </a:solidFill>
            </a:endParaRPr>
          </a:p>
        </p:txBody>
      </p:sp>
      <p:pic>
        <p:nvPicPr>
          <p:cNvPr id="322" name="Google Shape;322;p51" title="Screenshot 2026-03-20 at 11.00.44 PM.png"/>
          <p:cNvPicPr preferRelativeResize="0"/>
          <p:nvPr/>
        </p:nvPicPr>
        <p:blipFill>
          <a:blip r:embed="rId4">
            <a:alphaModFix/>
          </a:blip>
          <a:stretch>
            <a:fillRect/>
          </a:stretch>
        </p:blipFill>
        <p:spPr>
          <a:xfrm>
            <a:off x="213721" y="2027449"/>
            <a:ext cx="8091254" cy="1354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6" name="Shape 326"/>
        <p:cNvGrpSpPr/>
        <p:nvPr/>
      </p:nvGrpSpPr>
      <p:grpSpPr>
        <a:xfrm>
          <a:off x="0" y="0"/>
          <a:ext cx="0" cy="0"/>
          <a:chOff x="0" y="0"/>
          <a:chExt cx="0" cy="0"/>
        </a:xfrm>
      </p:grpSpPr>
      <p:sp>
        <p:nvSpPr>
          <p:cNvPr id="327" name="Google Shape;327;p52"/>
          <p:cNvSpPr txBox="1"/>
          <p:nvPr/>
        </p:nvSpPr>
        <p:spPr>
          <a:xfrm>
            <a:off x="213725" y="641750"/>
            <a:ext cx="8285700" cy="441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200">
                <a:solidFill>
                  <a:schemeClr val="dk1"/>
                </a:solidFill>
              </a:rPr>
              <a:t>Fixed Retry -&gt; No</a:t>
            </a:r>
            <a:endParaRPr b="1" sz="1200">
              <a:solidFill>
                <a:schemeClr val="dk1"/>
              </a:solidFill>
            </a:endParaRPr>
          </a:p>
          <a:p>
            <a:pPr indent="-292100" lvl="0" marL="457200" rtl="0" algn="l">
              <a:lnSpc>
                <a:spcPct val="115000"/>
              </a:lnSpc>
              <a:spcBef>
                <a:spcPts val="1200"/>
              </a:spcBef>
              <a:spcAft>
                <a:spcPts val="0"/>
              </a:spcAft>
              <a:buClr>
                <a:schemeClr val="dk1"/>
              </a:buClr>
              <a:buSzPts val="1000"/>
              <a:buChar char="●"/>
            </a:pPr>
            <a:r>
              <a:rPr lang="en-GB" sz="1000">
                <a:solidFill>
                  <a:schemeClr val="dk1"/>
                </a:solidFill>
              </a:rPr>
              <a:t>Retry after fixed interval (e.g., every 2 sec)</a:t>
            </a:r>
            <a:endParaRPr sz="1000">
              <a:solidFill>
                <a:schemeClr val="dk1"/>
              </a:solidFill>
            </a:endParaRPr>
          </a:p>
          <a:p>
            <a:pPr indent="0" lvl="0" marL="0" rtl="0" algn="l">
              <a:lnSpc>
                <a:spcPct val="115000"/>
              </a:lnSpc>
              <a:spcBef>
                <a:spcPts val="1400"/>
              </a:spcBef>
              <a:spcAft>
                <a:spcPts val="0"/>
              </a:spcAft>
              <a:buNone/>
            </a:pPr>
            <a:r>
              <a:rPr b="1" lang="en-GB" sz="1200">
                <a:solidFill>
                  <a:schemeClr val="dk1"/>
                </a:solidFill>
              </a:rPr>
              <a:t>Exponential Backoff </a:t>
            </a:r>
            <a:endParaRPr b="1" sz="1200">
              <a:solidFill>
                <a:schemeClr val="dk1"/>
              </a:solidFill>
            </a:endParaRPr>
          </a:p>
          <a:p>
            <a:pPr indent="0" lvl="0" marL="0" rtl="0" algn="l">
              <a:lnSpc>
                <a:spcPct val="115000"/>
              </a:lnSpc>
              <a:spcBef>
                <a:spcPts val="1400"/>
              </a:spcBef>
              <a:spcAft>
                <a:spcPts val="0"/>
              </a:spcAft>
              <a:buNone/>
            </a:pPr>
            <a:r>
              <a:rPr lang="en-GB" sz="1000">
                <a:solidFill>
                  <a:schemeClr val="dk1"/>
                </a:solidFill>
              </a:rPr>
              <a:t>1s → 2s → 4s → 8s…</a:t>
            </a:r>
            <a:br>
              <a:rPr lang="en-GB" sz="1000">
                <a:solidFill>
                  <a:schemeClr val="dk1"/>
                </a:solidFill>
              </a:rPr>
            </a:br>
            <a:r>
              <a:rPr b="1" lang="en-GB" sz="1200">
                <a:solidFill>
                  <a:schemeClr val="dk1"/>
                </a:solidFill>
              </a:rPr>
              <a:t>Exponential Backoff + Jitter (to avoid thundering herd)</a:t>
            </a:r>
            <a:endParaRPr b="1" sz="1200">
              <a:solidFill>
                <a:schemeClr val="dk1"/>
              </a:solidFill>
            </a:endParaRPr>
          </a:p>
          <a:p>
            <a:pPr indent="0" lvl="0" marL="0" rtl="0" algn="l">
              <a:lnSpc>
                <a:spcPct val="115000"/>
              </a:lnSpc>
              <a:spcBef>
                <a:spcPts val="1200"/>
              </a:spcBef>
              <a:spcAft>
                <a:spcPts val="0"/>
              </a:spcAft>
              <a:buNone/>
            </a:pPr>
            <a:r>
              <a:rPr lang="en-GB" sz="1000">
                <a:solidFill>
                  <a:schemeClr val="dk1"/>
                </a:solidFill>
              </a:rPr>
              <a:t> Add randomness </a:t>
            </a:r>
            <a:endParaRPr sz="1000">
              <a:solidFill>
                <a:schemeClr val="dk1"/>
              </a:solidFill>
            </a:endParaRPr>
          </a:p>
          <a:p>
            <a:pPr indent="0" lvl="0" marL="0" rtl="0" algn="l">
              <a:lnSpc>
                <a:spcPct val="115000"/>
              </a:lnSpc>
              <a:spcBef>
                <a:spcPts val="1200"/>
              </a:spcBef>
              <a:spcAft>
                <a:spcPts val="0"/>
              </a:spcAft>
              <a:buNone/>
            </a:pPr>
            <a:r>
              <a:rPr lang="en-GB" sz="1000">
                <a:solidFill>
                  <a:schemeClr val="dk1"/>
                </a:solidFill>
              </a:rPr>
              <a:t>Wait = random(0, base * 2^n)</a:t>
            </a:r>
            <a:endParaRPr sz="1000">
              <a:solidFill>
                <a:schemeClr val="dk1"/>
              </a:solidFill>
            </a:endParaRPr>
          </a:p>
          <a:p>
            <a:pPr indent="0" lvl="0" marL="0" rtl="0" algn="l">
              <a:lnSpc>
                <a:spcPct val="115000"/>
              </a:lnSpc>
              <a:spcBef>
                <a:spcPts val="1200"/>
              </a:spcBef>
              <a:spcAft>
                <a:spcPts val="0"/>
              </a:spcAft>
              <a:buNone/>
            </a:pPr>
            <a:r>
              <a:rPr lang="en-GB" sz="1000">
                <a:solidFill>
                  <a:schemeClr val="dk1"/>
                </a:solidFill>
              </a:rPr>
              <a:t>there is a small chance the "random" number is </a:t>
            </a:r>
            <a:r>
              <a:rPr b="1" lang="en-GB" sz="1000">
                <a:solidFill>
                  <a:schemeClr val="dk1"/>
                </a:solidFill>
              </a:rPr>
              <a:t>0.001 seconds</a:t>
            </a:r>
            <a:r>
              <a:rPr lang="en-GB" sz="1000">
                <a:solidFill>
                  <a:schemeClr val="dk1"/>
                </a:solidFill>
              </a:rPr>
              <a:t>. This means the client might retry almost instantly, which defeats the purpose of backing off.</a:t>
            </a:r>
            <a:endParaRPr sz="1000">
              <a:solidFill>
                <a:schemeClr val="dk1"/>
              </a:solidFill>
            </a:endParaRPr>
          </a:p>
          <a:p>
            <a:pPr indent="0" lvl="0" marL="0" rtl="0" algn="l">
              <a:lnSpc>
                <a:spcPct val="115000"/>
              </a:lnSpc>
              <a:spcBef>
                <a:spcPts val="1200"/>
              </a:spcBef>
              <a:spcAft>
                <a:spcPts val="0"/>
              </a:spcAft>
              <a:buNone/>
            </a:pPr>
            <a:r>
              <a:rPr b="1" lang="en-GB" sz="1000">
                <a:solidFill>
                  <a:schemeClr val="dk1"/>
                </a:solidFill>
              </a:rPr>
              <a:t>The Pro Solution:</a:t>
            </a:r>
            <a:r>
              <a:rPr lang="en-GB" sz="1000">
                <a:solidFill>
                  <a:schemeClr val="dk1"/>
                </a:solidFill>
              </a:rPr>
              <a:t> Use </a:t>
            </a:r>
            <a:r>
              <a:rPr lang="en-GB" sz="1000">
                <a:solidFill>
                  <a:srgbClr val="188038"/>
                </a:solidFill>
                <a:latin typeface="Roboto Mono"/>
                <a:ea typeface="Roboto Mono"/>
                <a:cs typeface="Roboto Mono"/>
                <a:sym typeface="Roboto Mono"/>
              </a:rPr>
              <a:t>min_wait + random(0, base * 2^n)</a:t>
            </a:r>
            <a:r>
              <a:rPr lang="en-GB" sz="1000">
                <a:solidFill>
                  <a:schemeClr val="dk1"/>
                </a:solidFill>
              </a:rPr>
              <a:t> or a "Equal Jitter" approach so that there is always </a:t>
            </a:r>
            <a:r>
              <a:rPr i="1" lang="en-GB" sz="1000">
                <a:solidFill>
                  <a:schemeClr val="dk1"/>
                </a:solidFill>
              </a:rPr>
              <a:t>some</a:t>
            </a:r>
            <a:r>
              <a:rPr lang="en-GB" sz="1000">
                <a:solidFill>
                  <a:schemeClr val="dk1"/>
                </a:solidFill>
              </a:rPr>
              <a:t> minimum breathing room.</a:t>
            </a:r>
            <a:endParaRPr sz="1000">
              <a:solidFill>
                <a:schemeClr val="dk1"/>
              </a:solidFill>
            </a:endParaRPr>
          </a:p>
          <a:p>
            <a:pPr indent="-285750" lvl="0" marL="749300" rtl="0" algn="l">
              <a:lnSpc>
                <a:spcPct val="218181"/>
              </a:lnSpc>
              <a:spcBef>
                <a:spcPts val="1700"/>
              </a:spcBef>
              <a:spcAft>
                <a:spcPts val="0"/>
              </a:spcAft>
              <a:buClr>
                <a:srgbClr val="242424"/>
              </a:buClr>
              <a:buSzPts val="900"/>
              <a:buFont typeface="Georgia"/>
              <a:buAutoNum type="arabicPeriod"/>
            </a:pPr>
            <a:r>
              <a:rPr b="1" lang="en-GB" sz="900">
                <a:solidFill>
                  <a:srgbClr val="242424"/>
                </a:solidFill>
                <a:highlight>
                  <a:srgbClr val="FFFFFF"/>
                </a:highlight>
                <a:latin typeface="Georgia"/>
                <a:ea typeface="Georgia"/>
                <a:cs typeface="Georgia"/>
                <a:sym typeface="Georgia"/>
              </a:rPr>
              <a:t>Use max retry limit</a:t>
            </a:r>
            <a:r>
              <a:rPr lang="en-GB" sz="900">
                <a:solidFill>
                  <a:srgbClr val="242424"/>
                </a:solidFill>
                <a:highlight>
                  <a:srgbClr val="FFFFFF"/>
                </a:highlight>
                <a:latin typeface="Georgia"/>
                <a:ea typeface="Georgia"/>
                <a:cs typeface="Georgia"/>
                <a:sym typeface="Georgia"/>
              </a:rPr>
              <a:t>.</a:t>
            </a:r>
            <a:endParaRPr sz="900">
              <a:solidFill>
                <a:srgbClr val="242424"/>
              </a:solidFill>
              <a:highlight>
                <a:srgbClr val="FFFFFF"/>
              </a:highlight>
              <a:latin typeface="Georgia"/>
              <a:ea typeface="Georgia"/>
              <a:cs typeface="Georgia"/>
              <a:sym typeface="Georgia"/>
            </a:endParaRPr>
          </a:p>
          <a:p>
            <a:pPr indent="-285750" lvl="0" marL="749300" rtl="0" algn="l">
              <a:lnSpc>
                <a:spcPct val="218181"/>
              </a:lnSpc>
              <a:spcBef>
                <a:spcPts val="0"/>
              </a:spcBef>
              <a:spcAft>
                <a:spcPts val="0"/>
              </a:spcAft>
              <a:buClr>
                <a:srgbClr val="242424"/>
              </a:buClr>
              <a:buSzPts val="900"/>
              <a:buFont typeface="Georgia"/>
              <a:buAutoNum type="arabicPeriod"/>
            </a:pPr>
            <a:r>
              <a:rPr b="1" lang="en-GB" sz="900">
                <a:solidFill>
                  <a:srgbClr val="242424"/>
                </a:solidFill>
                <a:highlight>
                  <a:srgbClr val="FFFFFF"/>
                </a:highlight>
                <a:latin typeface="Georgia"/>
                <a:ea typeface="Georgia"/>
                <a:cs typeface="Georgia"/>
                <a:sym typeface="Georgia"/>
              </a:rPr>
              <a:t>Ensure idempotency</a:t>
            </a:r>
            <a:r>
              <a:rPr lang="en-GB" sz="900">
                <a:solidFill>
                  <a:srgbClr val="242424"/>
                </a:solidFill>
                <a:highlight>
                  <a:srgbClr val="FFFFFF"/>
                </a:highlight>
                <a:latin typeface="Georgia"/>
                <a:ea typeface="Georgia"/>
                <a:cs typeface="Georgia"/>
                <a:sym typeface="Georgia"/>
              </a:rPr>
              <a:t> for retry-safe operations.</a:t>
            </a:r>
            <a:endParaRPr sz="900">
              <a:solidFill>
                <a:srgbClr val="242424"/>
              </a:solidFill>
              <a:highlight>
                <a:srgbClr val="FFFFFF"/>
              </a:highlight>
              <a:latin typeface="Georgia"/>
              <a:ea typeface="Georgia"/>
              <a:cs typeface="Georgia"/>
              <a:sym typeface="Georgia"/>
            </a:endParaRPr>
          </a:p>
          <a:p>
            <a:pPr indent="0" lvl="0" marL="0" rtl="0" algn="l">
              <a:lnSpc>
                <a:spcPct val="115000"/>
              </a:lnSpc>
              <a:spcBef>
                <a:spcPts val="1200"/>
              </a:spcBef>
              <a:spcAft>
                <a:spcPts val="1200"/>
              </a:spcAft>
              <a:buNone/>
            </a:pPr>
            <a:r>
              <a:t/>
            </a:r>
            <a:endParaRPr sz="1000">
              <a:solidFill>
                <a:schemeClr val="dk1"/>
              </a:solidFill>
            </a:endParaRPr>
          </a:p>
        </p:txBody>
      </p:sp>
      <p:sp>
        <p:nvSpPr>
          <p:cNvPr id="328" name="Google Shape;328;p52"/>
          <p:cNvSpPr txBox="1"/>
          <p:nvPr/>
        </p:nvSpPr>
        <p:spPr>
          <a:xfrm>
            <a:off x="172400" y="11495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Golden Rules of Retry ?</a:t>
            </a:r>
            <a:endParaRPr sz="2800">
              <a:solidFill>
                <a:srgbClr val="8E7CC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3"/>
          <p:cNvSpPr txBox="1"/>
          <p:nvPr>
            <p:ph type="title"/>
          </p:nvPr>
        </p:nvSpPr>
        <p:spPr>
          <a:xfrm>
            <a:off x="311700" y="188400"/>
            <a:ext cx="8520600" cy="48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Retry Looks Like ?</a:t>
            </a:r>
            <a:endParaRPr/>
          </a:p>
        </p:txBody>
      </p:sp>
      <p:sp>
        <p:nvSpPr>
          <p:cNvPr id="334" name="Google Shape;334;p53"/>
          <p:cNvSpPr txBox="1"/>
          <p:nvPr>
            <p:ph idx="1" type="body"/>
          </p:nvPr>
        </p:nvSpPr>
        <p:spPr>
          <a:xfrm>
            <a:off x="311700" y="722225"/>
            <a:ext cx="8520600" cy="4511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We can push the </a:t>
            </a:r>
            <a:r>
              <a:rPr lang="en-GB"/>
              <a:t>failures</a:t>
            </a:r>
            <a:r>
              <a:rPr lang="en-GB"/>
              <a:t> to dead letter </a:t>
            </a:r>
            <a:endParaRPr/>
          </a:p>
          <a:p>
            <a:pPr indent="0" lvl="0" marL="0" rtl="0" algn="l">
              <a:spcBef>
                <a:spcPts val="1200"/>
              </a:spcBef>
              <a:spcAft>
                <a:spcPts val="1200"/>
              </a:spcAft>
              <a:buNone/>
            </a:pPr>
            <a:r>
              <a:rPr lang="en-GB"/>
              <a:t>Queue for later understandings.</a:t>
            </a:r>
            <a:endParaRPr/>
          </a:p>
        </p:txBody>
      </p:sp>
      <p:pic>
        <p:nvPicPr>
          <p:cNvPr id="335" name="Google Shape;335;p53"/>
          <p:cNvPicPr preferRelativeResize="0"/>
          <p:nvPr/>
        </p:nvPicPr>
        <p:blipFill>
          <a:blip r:embed="rId3">
            <a:alphaModFix/>
          </a:blip>
          <a:stretch>
            <a:fillRect/>
          </a:stretch>
        </p:blipFill>
        <p:spPr>
          <a:xfrm>
            <a:off x="4843925" y="805975"/>
            <a:ext cx="4063525" cy="41124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If Payment (Post Api Fails) ?</a:t>
            </a:r>
            <a:endParaRPr/>
          </a:p>
        </p:txBody>
      </p:sp>
      <p:sp>
        <p:nvSpPr>
          <p:cNvPr id="341" name="Google Shape;341;p5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55600" lvl="0" marL="457200" rtl="0" algn="l">
              <a:spcBef>
                <a:spcPts val="1200"/>
              </a:spcBef>
              <a:spcAft>
                <a:spcPts val="0"/>
              </a:spcAft>
              <a:buClr>
                <a:schemeClr val="dk1"/>
              </a:buClr>
              <a:buSzPts val="2000"/>
              <a:buChar char="●"/>
            </a:pPr>
            <a:r>
              <a:rPr b="1" lang="en-GB" sz="2000">
                <a:solidFill>
                  <a:schemeClr val="dk1"/>
                </a:solidFill>
              </a:rPr>
              <a:t>Never Retry Blindly:</a:t>
            </a:r>
            <a:r>
              <a:rPr lang="en-GB" sz="2000">
                <a:solidFill>
                  <a:schemeClr val="dk1"/>
                </a:solidFill>
              </a:rPr>
              <a:t> A raw </a:t>
            </a:r>
            <a:r>
              <a:rPr lang="en-GB" sz="2000">
                <a:solidFill>
                  <a:srgbClr val="188038"/>
                </a:solidFill>
                <a:latin typeface="Roboto Mono"/>
                <a:ea typeface="Roboto Mono"/>
                <a:cs typeface="Roboto Mono"/>
                <a:sym typeface="Roboto Mono"/>
              </a:rPr>
              <a:t>POST</a:t>
            </a:r>
            <a:r>
              <a:rPr lang="en-GB" sz="2000">
                <a:solidFill>
                  <a:schemeClr val="dk1"/>
                </a:solidFill>
              </a:rPr>
              <a:t> is a risk. Treat every retry as a potential duplicate operation.</a:t>
            </a:r>
            <a:endParaRPr sz="2000">
              <a:solidFill>
                <a:schemeClr val="dk1"/>
              </a:solidFill>
            </a:endParaRPr>
          </a:p>
          <a:p>
            <a:pPr indent="-355600" lvl="0" marL="457200" rtl="0" algn="l">
              <a:spcBef>
                <a:spcPts val="0"/>
              </a:spcBef>
              <a:spcAft>
                <a:spcPts val="0"/>
              </a:spcAft>
              <a:buClr>
                <a:schemeClr val="dk1"/>
              </a:buClr>
              <a:buSzPts val="2000"/>
              <a:buChar char="●"/>
            </a:pPr>
            <a:r>
              <a:rPr b="1" lang="en-GB" sz="2000">
                <a:solidFill>
                  <a:schemeClr val="dk1"/>
                </a:solidFill>
              </a:rPr>
              <a:t>Idempotency Keys:</a:t>
            </a:r>
            <a:r>
              <a:rPr lang="en-GB" sz="2000">
                <a:solidFill>
                  <a:schemeClr val="dk1"/>
                </a:solidFill>
              </a:rPr>
              <a:t> Every request must carry a </a:t>
            </a:r>
            <a:r>
              <a:rPr b="1" lang="en-GB" sz="2000">
                <a:solidFill>
                  <a:schemeClr val="dk1"/>
                </a:solidFill>
              </a:rPr>
              <a:t>Unique Identifier</a:t>
            </a:r>
            <a:r>
              <a:rPr lang="en-GB" sz="2000">
                <a:solidFill>
                  <a:schemeClr val="dk1"/>
                </a:solidFill>
              </a:rPr>
              <a:t> (e.g., </a:t>
            </a:r>
            <a:r>
              <a:rPr lang="en-GB" sz="2000">
                <a:solidFill>
                  <a:srgbClr val="188038"/>
                </a:solidFill>
                <a:latin typeface="Roboto Mono"/>
                <a:ea typeface="Roboto Mono"/>
                <a:cs typeface="Roboto Mono"/>
                <a:sym typeface="Roboto Mono"/>
              </a:rPr>
              <a:t>request_id</a:t>
            </a:r>
            <a:r>
              <a:rPr lang="en-GB" sz="2000">
                <a:solidFill>
                  <a:schemeClr val="dk1"/>
                </a:solidFill>
              </a:rPr>
              <a:t> or </a:t>
            </a:r>
            <a:r>
              <a:rPr lang="en-GB" sz="2000">
                <a:solidFill>
                  <a:srgbClr val="188038"/>
                </a:solidFill>
                <a:latin typeface="Roboto Mono"/>
                <a:ea typeface="Roboto Mono"/>
                <a:cs typeface="Roboto Mono"/>
                <a:sym typeface="Roboto Mono"/>
              </a:rPr>
              <a:t>idempotency_key</a:t>
            </a:r>
            <a:r>
              <a:rPr lang="en-GB" sz="2000">
                <a:solidFill>
                  <a:schemeClr val="dk1"/>
                </a:solidFill>
              </a:rPr>
              <a:t>).</a:t>
            </a:r>
            <a:endParaRPr sz="2000">
              <a:solidFill>
                <a:schemeClr val="dk1"/>
              </a:solidFill>
            </a:endParaRPr>
          </a:p>
          <a:p>
            <a:pPr indent="-355600" lvl="0" marL="457200" rtl="0" algn="l">
              <a:spcBef>
                <a:spcPts val="0"/>
              </a:spcBef>
              <a:spcAft>
                <a:spcPts val="0"/>
              </a:spcAft>
              <a:buClr>
                <a:schemeClr val="dk1"/>
              </a:buClr>
              <a:buSzPts val="2000"/>
              <a:buChar char="●"/>
            </a:pPr>
            <a:r>
              <a:rPr b="1" lang="en-GB" sz="2000">
                <a:solidFill>
                  <a:schemeClr val="dk1"/>
                </a:solidFill>
              </a:rPr>
              <a:t>Atomic Locking:</a:t>
            </a:r>
            <a:r>
              <a:rPr lang="en-GB" sz="2000">
                <a:solidFill>
                  <a:schemeClr val="dk1"/>
                </a:solidFill>
              </a:rPr>
              <a:t> Use a </a:t>
            </a:r>
            <a:r>
              <a:rPr b="1" lang="en-GB" sz="2000">
                <a:solidFill>
                  <a:schemeClr val="dk1"/>
                </a:solidFill>
              </a:rPr>
              <a:t>Distributed Lock</a:t>
            </a:r>
            <a:r>
              <a:rPr lang="en-GB" sz="2000">
                <a:solidFill>
                  <a:schemeClr val="dk1"/>
                </a:solidFill>
              </a:rPr>
              <a:t> (Redis/Redlock or DB-level row lock) to prevent "Double-Processing" during concurrent retries.</a:t>
            </a:r>
            <a:endParaRPr sz="2000">
              <a:solidFill>
                <a:schemeClr val="dk1"/>
              </a:solidFill>
            </a:endParaRPr>
          </a:p>
          <a:p>
            <a:pPr indent="-355600" lvl="0" marL="457200" rtl="0" algn="l">
              <a:spcBef>
                <a:spcPts val="0"/>
              </a:spcBef>
              <a:spcAft>
                <a:spcPts val="0"/>
              </a:spcAft>
              <a:buClr>
                <a:schemeClr val="dk1"/>
              </a:buClr>
              <a:buSzPts val="2000"/>
              <a:buChar char="●"/>
            </a:pPr>
            <a:r>
              <a:rPr b="1" lang="en-GB" sz="2000">
                <a:solidFill>
                  <a:schemeClr val="dk1"/>
                </a:solidFill>
              </a:rPr>
              <a:t>State Verification:</a:t>
            </a:r>
            <a:r>
              <a:rPr lang="en-GB" sz="2000">
                <a:solidFill>
                  <a:schemeClr val="dk1"/>
                </a:solidFill>
              </a:rPr>
              <a:t> </a:t>
            </a:r>
            <a:r>
              <a:rPr b="1" lang="en-GB" sz="2000">
                <a:solidFill>
                  <a:schemeClr val="dk1"/>
                </a:solidFill>
              </a:rPr>
              <a:t>Check before you act.</a:t>
            </a:r>
            <a:r>
              <a:rPr lang="en-GB" sz="2000">
                <a:solidFill>
                  <a:schemeClr val="dk1"/>
                </a:solidFill>
              </a:rPr>
              <a:t> Always query the current status of the transaction/resource before initiating a retry step.</a:t>
            </a:r>
            <a:endParaRPr sz="27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800"/>
              </a:spcBef>
              <a:spcAft>
                <a:spcPts val="400"/>
              </a:spcAft>
              <a:buClr>
                <a:schemeClr val="dk1"/>
              </a:buClr>
              <a:buSzPct val="39286"/>
              <a:buFont typeface="Arial"/>
              <a:buNone/>
            </a:pPr>
            <a:r>
              <a:rPr lang="en-GB"/>
              <a:t>Why No to Sync Retries?</a:t>
            </a:r>
            <a:endParaRPr/>
          </a:p>
        </p:txBody>
      </p:sp>
      <p:sp>
        <p:nvSpPr>
          <p:cNvPr id="347" name="Google Shape;347;p5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55600" lvl="0" marL="457200" rtl="0" algn="l">
              <a:spcBef>
                <a:spcPts val="1200"/>
              </a:spcBef>
              <a:spcAft>
                <a:spcPts val="0"/>
              </a:spcAft>
              <a:buClr>
                <a:schemeClr val="dk1"/>
              </a:buClr>
              <a:buSzPts val="2000"/>
              <a:buChar char="●"/>
            </a:pPr>
            <a:r>
              <a:rPr b="1" lang="en-GB" sz="2000">
                <a:solidFill>
                  <a:schemeClr val="dk1"/>
                </a:solidFill>
              </a:rPr>
              <a:t>Thread Starvation:</a:t>
            </a:r>
            <a:r>
              <a:rPr lang="en-GB" sz="2000">
                <a:solidFill>
                  <a:schemeClr val="dk1"/>
                </a:solidFill>
              </a:rPr>
              <a:t> Blocks worker threads, leading to total service hangs.</a:t>
            </a:r>
            <a:endParaRPr sz="2000">
              <a:solidFill>
                <a:schemeClr val="dk1"/>
              </a:solidFill>
            </a:endParaRPr>
          </a:p>
          <a:p>
            <a:pPr indent="-355600" lvl="0" marL="457200" rtl="0" algn="l">
              <a:spcBef>
                <a:spcPts val="0"/>
              </a:spcBef>
              <a:spcAft>
                <a:spcPts val="0"/>
              </a:spcAft>
              <a:buClr>
                <a:schemeClr val="dk1"/>
              </a:buClr>
              <a:buSzPts val="2000"/>
              <a:buChar char="●"/>
            </a:pPr>
            <a:r>
              <a:rPr b="1" lang="en-GB" sz="2000">
                <a:solidFill>
                  <a:schemeClr val="dk1"/>
                </a:solidFill>
              </a:rPr>
              <a:t>Cascading Failures:</a:t>
            </a:r>
            <a:r>
              <a:rPr lang="en-GB" sz="2000">
                <a:solidFill>
                  <a:schemeClr val="dk1"/>
                </a:solidFill>
              </a:rPr>
              <a:t> One slow dependency kills the entire upstream stack.</a:t>
            </a:r>
            <a:endParaRPr sz="2000">
              <a:solidFill>
                <a:schemeClr val="dk1"/>
              </a:solidFill>
            </a:endParaRPr>
          </a:p>
          <a:p>
            <a:pPr indent="-355600" lvl="0" marL="457200" rtl="0" algn="l">
              <a:spcBef>
                <a:spcPts val="0"/>
              </a:spcBef>
              <a:spcAft>
                <a:spcPts val="0"/>
              </a:spcAft>
              <a:buClr>
                <a:schemeClr val="dk1"/>
              </a:buClr>
              <a:buSzPts val="2000"/>
              <a:buChar char="●"/>
            </a:pPr>
            <a:r>
              <a:rPr b="1" lang="en-GB" sz="2000">
                <a:solidFill>
                  <a:schemeClr val="dk1"/>
                </a:solidFill>
              </a:rPr>
              <a:t>User Experience:</a:t>
            </a:r>
            <a:r>
              <a:rPr lang="en-GB" sz="2000">
                <a:solidFill>
                  <a:schemeClr val="dk1"/>
                </a:solidFill>
              </a:rPr>
              <a:t> Holding a "loading spinner" for 10 seconds is worse than showing an "In Progress" message.</a:t>
            </a:r>
            <a:endParaRPr sz="2000">
              <a:solidFill>
                <a:schemeClr val="dk1"/>
              </a:solidFill>
            </a:endParaRPr>
          </a:p>
          <a:p>
            <a:pPr indent="-355600" lvl="0" marL="457200" rtl="0" algn="l">
              <a:spcBef>
                <a:spcPts val="0"/>
              </a:spcBef>
              <a:spcAft>
                <a:spcPts val="0"/>
              </a:spcAft>
              <a:buClr>
                <a:schemeClr val="dk1"/>
              </a:buClr>
              <a:buSzPts val="2000"/>
              <a:buChar char="●"/>
            </a:pPr>
            <a:r>
              <a:rPr b="1" lang="en-GB" sz="2000">
                <a:solidFill>
                  <a:schemeClr val="dk1"/>
                </a:solidFill>
              </a:rPr>
              <a:t>Resource Waste:</a:t>
            </a:r>
            <a:r>
              <a:rPr lang="en-GB" sz="2000">
                <a:solidFill>
                  <a:schemeClr val="dk1"/>
                </a:solidFill>
              </a:rPr>
              <a:t> Keeps DB connections and Sockets idle.</a:t>
            </a:r>
            <a:endParaRPr sz="2000">
              <a:solidFill>
                <a:schemeClr val="dk1"/>
              </a:solidFill>
            </a:endParaRPr>
          </a:p>
          <a:p>
            <a:pPr indent="0" lvl="0" marL="0" rtl="0" algn="l">
              <a:spcBef>
                <a:spcPts val="1200"/>
              </a:spcBef>
              <a:spcAft>
                <a:spcPts val="1200"/>
              </a:spcAft>
              <a:buNone/>
            </a:pPr>
            <a:r>
              <a:t/>
            </a:r>
            <a:endParaRPr sz="27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6"/>
          <p:cNvSpPr txBox="1"/>
          <p:nvPr>
            <p:ph type="title"/>
          </p:nvPr>
        </p:nvSpPr>
        <p:spPr>
          <a:xfrm>
            <a:off x="311700" y="96725"/>
            <a:ext cx="8520600" cy="624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Retry Mechanism </a:t>
            </a:r>
            <a:endParaRPr/>
          </a:p>
        </p:txBody>
      </p:sp>
      <p:sp>
        <p:nvSpPr>
          <p:cNvPr id="353" name="Google Shape;353;p56"/>
          <p:cNvSpPr txBox="1"/>
          <p:nvPr>
            <p:ph idx="1" type="body"/>
          </p:nvPr>
        </p:nvSpPr>
        <p:spPr>
          <a:xfrm>
            <a:off x="311700" y="685800"/>
            <a:ext cx="8520600" cy="4326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54" name="Google Shape;354;p56"/>
          <p:cNvPicPr preferRelativeResize="0"/>
          <p:nvPr/>
        </p:nvPicPr>
        <p:blipFill>
          <a:blip r:embed="rId3">
            <a:alphaModFix/>
          </a:blip>
          <a:stretch>
            <a:fillRect/>
          </a:stretch>
        </p:blipFill>
        <p:spPr>
          <a:xfrm>
            <a:off x="311701" y="721025"/>
            <a:ext cx="2638149" cy="1705649"/>
          </a:xfrm>
          <a:prstGeom prst="rect">
            <a:avLst/>
          </a:prstGeom>
          <a:noFill/>
          <a:ln>
            <a:noFill/>
          </a:ln>
        </p:spPr>
      </p:pic>
      <p:pic>
        <p:nvPicPr>
          <p:cNvPr id="355" name="Google Shape;355;p56"/>
          <p:cNvPicPr preferRelativeResize="0"/>
          <p:nvPr/>
        </p:nvPicPr>
        <p:blipFill>
          <a:blip r:embed="rId4">
            <a:alphaModFix/>
          </a:blip>
          <a:stretch>
            <a:fillRect/>
          </a:stretch>
        </p:blipFill>
        <p:spPr>
          <a:xfrm>
            <a:off x="3411400" y="685801"/>
            <a:ext cx="2396651" cy="1327651"/>
          </a:xfrm>
          <a:prstGeom prst="rect">
            <a:avLst/>
          </a:prstGeom>
          <a:noFill/>
          <a:ln>
            <a:noFill/>
          </a:ln>
        </p:spPr>
      </p:pic>
      <p:pic>
        <p:nvPicPr>
          <p:cNvPr id="356" name="Google Shape;356;p56"/>
          <p:cNvPicPr preferRelativeResize="0"/>
          <p:nvPr/>
        </p:nvPicPr>
        <p:blipFill>
          <a:blip r:embed="rId5">
            <a:alphaModFix/>
          </a:blip>
          <a:stretch>
            <a:fillRect/>
          </a:stretch>
        </p:blipFill>
        <p:spPr>
          <a:xfrm>
            <a:off x="1354024" y="2361600"/>
            <a:ext cx="2057375" cy="2552692"/>
          </a:xfrm>
          <a:prstGeom prst="rect">
            <a:avLst/>
          </a:prstGeom>
          <a:noFill/>
          <a:ln>
            <a:noFill/>
          </a:ln>
        </p:spPr>
      </p:pic>
      <p:pic>
        <p:nvPicPr>
          <p:cNvPr id="357" name="Google Shape;357;p56"/>
          <p:cNvPicPr preferRelativeResize="0"/>
          <p:nvPr/>
        </p:nvPicPr>
        <p:blipFill>
          <a:blip r:embed="rId6">
            <a:alphaModFix/>
          </a:blip>
          <a:stretch>
            <a:fillRect/>
          </a:stretch>
        </p:blipFill>
        <p:spPr>
          <a:xfrm>
            <a:off x="3842123" y="2080851"/>
            <a:ext cx="1934514" cy="2552701"/>
          </a:xfrm>
          <a:prstGeom prst="rect">
            <a:avLst/>
          </a:prstGeom>
          <a:noFill/>
          <a:ln>
            <a:noFill/>
          </a:ln>
        </p:spPr>
      </p:pic>
      <p:pic>
        <p:nvPicPr>
          <p:cNvPr id="358" name="Google Shape;358;p56"/>
          <p:cNvPicPr preferRelativeResize="0"/>
          <p:nvPr/>
        </p:nvPicPr>
        <p:blipFill>
          <a:blip r:embed="rId7">
            <a:alphaModFix/>
          </a:blip>
          <a:stretch>
            <a:fillRect/>
          </a:stretch>
        </p:blipFill>
        <p:spPr>
          <a:xfrm>
            <a:off x="6207350" y="721027"/>
            <a:ext cx="2790101" cy="14704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7"/>
          <p:cNvSpPr txBox="1"/>
          <p:nvPr>
            <p:ph type="title"/>
          </p:nvPr>
        </p:nvSpPr>
        <p:spPr>
          <a:xfrm>
            <a:off x="311700" y="95775"/>
            <a:ext cx="8520600" cy="536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Lets Talk System Components (General - HLD)</a:t>
            </a:r>
            <a:endParaRPr/>
          </a:p>
        </p:txBody>
      </p:sp>
      <p:sp>
        <p:nvSpPr>
          <p:cNvPr id="364" name="Google Shape;364;p57"/>
          <p:cNvSpPr txBox="1"/>
          <p:nvPr>
            <p:ph idx="1" type="body"/>
          </p:nvPr>
        </p:nvSpPr>
        <p:spPr>
          <a:xfrm>
            <a:off x="311700" y="565125"/>
            <a:ext cx="8520600" cy="450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1. The Entry Point: Traffic &amp; Delivery</a:t>
            </a:r>
            <a:endParaRPr/>
          </a:p>
          <a:p>
            <a:pPr indent="0" lvl="0" marL="0" rtl="0" algn="l">
              <a:spcBef>
                <a:spcPts val="1200"/>
              </a:spcBef>
              <a:spcAft>
                <a:spcPts val="0"/>
              </a:spcAft>
              <a:buNone/>
            </a:pPr>
            <a:r>
              <a:rPr lang="en-GB" sz="1600">
                <a:solidFill>
                  <a:schemeClr val="dk1"/>
                </a:solidFill>
              </a:rPr>
              <a:t>CDNs, Load Balancers, and Api Gateways</a:t>
            </a:r>
            <a:endParaRPr sz="1600">
              <a:solidFill>
                <a:schemeClr val="dk1"/>
              </a:solidFill>
            </a:endParaRPr>
          </a:p>
          <a:p>
            <a:pPr indent="0" lvl="0" marL="0" rtl="0" algn="l">
              <a:spcBef>
                <a:spcPts val="1200"/>
              </a:spcBef>
              <a:spcAft>
                <a:spcPts val="0"/>
              </a:spcAft>
              <a:buNone/>
            </a:pPr>
            <a:r>
              <a:rPr lang="en-GB"/>
              <a:t>2. Processing: Application &amp; Compute</a:t>
            </a:r>
            <a:endParaRPr/>
          </a:p>
          <a:p>
            <a:pPr indent="0" lvl="0" marL="0" rtl="0" algn="l">
              <a:spcBef>
                <a:spcPts val="1200"/>
              </a:spcBef>
              <a:spcAft>
                <a:spcPts val="0"/>
              </a:spcAft>
              <a:buNone/>
            </a:pPr>
            <a:r>
              <a:rPr lang="en-GB" sz="1600">
                <a:solidFill>
                  <a:schemeClr val="dk1"/>
                </a:solidFill>
              </a:rPr>
              <a:t>Microservices vs. Monoliths, Stateless vs. Stateful Services</a:t>
            </a:r>
            <a:endParaRPr sz="1600">
              <a:solidFill>
                <a:schemeClr val="dk1"/>
              </a:solidFill>
            </a:endParaRPr>
          </a:p>
          <a:p>
            <a:pPr indent="0" lvl="0" marL="0" rtl="0" algn="l">
              <a:spcBef>
                <a:spcPts val="1200"/>
              </a:spcBef>
              <a:spcAft>
                <a:spcPts val="0"/>
              </a:spcAft>
              <a:buNone/>
            </a:pPr>
            <a:r>
              <a:rPr lang="en-GB"/>
              <a:t>3. Storage: Databases &amp; Caching</a:t>
            </a:r>
            <a:endParaRPr/>
          </a:p>
          <a:p>
            <a:pPr indent="0" lvl="0" marL="0" rtl="0" algn="l">
              <a:spcBef>
                <a:spcPts val="1200"/>
              </a:spcBef>
              <a:spcAft>
                <a:spcPts val="0"/>
              </a:spcAft>
              <a:buNone/>
            </a:pPr>
            <a:r>
              <a:rPr lang="en-GB" sz="1600">
                <a:solidFill>
                  <a:schemeClr val="dk1"/>
                </a:solidFill>
              </a:rPr>
              <a:t>Relational Databases (RDBMS), NoSQL Databases, Distributed Caching</a:t>
            </a:r>
            <a:endParaRPr sz="1600">
              <a:solidFill>
                <a:schemeClr val="dk1"/>
              </a:solidFill>
            </a:endParaRPr>
          </a:p>
          <a:p>
            <a:pPr indent="0" lvl="0" marL="0" rtl="0" algn="l">
              <a:spcBef>
                <a:spcPts val="1200"/>
              </a:spcBef>
              <a:spcAft>
                <a:spcPts val="0"/>
              </a:spcAft>
              <a:buNone/>
            </a:pPr>
            <a:r>
              <a:rPr lang="en-GB"/>
              <a:t>4. Communication: Async &amp; Integration</a:t>
            </a:r>
            <a:endParaRPr/>
          </a:p>
          <a:p>
            <a:pPr indent="0" lvl="0" marL="0" rtl="0" algn="l">
              <a:spcBef>
                <a:spcPts val="1200"/>
              </a:spcBef>
              <a:spcAft>
                <a:spcPts val="0"/>
              </a:spcAft>
              <a:buNone/>
            </a:pPr>
            <a:r>
              <a:rPr lang="en-GB" sz="1600">
                <a:solidFill>
                  <a:schemeClr val="dk1"/>
                </a:solidFill>
              </a:rPr>
              <a:t>Kafka Queue, Distributed Locking</a:t>
            </a:r>
            <a:endParaRPr sz="1600">
              <a:solidFill>
                <a:schemeClr val="dk1"/>
              </a:solidFill>
            </a:endParaRPr>
          </a:p>
          <a:p>
            <a:pPr indent="0" lvl="0" marL="0" rtl="0" algn="l">
              <a:spcBef>
                <a:spcPts val="1200"/>
              </a:spcBef>
              <a:spcAft>
                <a:spcPts val="0"/>
              </a:spcAft>
              <a:buNone/>
            </a:pPr>
            <a:r>
              <a:rPr lang="en-GB"/>
              <a:t>5. Resilience &amp; Observability</a:t>
            </a:r>
            <a:endParaRPr/>
          </a:p>
          <a:p>
            <a:pPr indent="0" lvl="0" marL="0" rtl="0" algn="l">
              <a:spcBef>
                <a:spcPts val="1200"/>
              </a:spcBef>
              <a:spcAft>
                <a:spcPts val="1200"/>
              </a:spcAft>
              <a:buNone/>
            </a:pPr>
            <a:r>
              <a:rPr lang="en-GB" sz="1600">
                <a:solidFill>
                  <a:schemeClr val="dk1"/>
                </a:solidFill>
              </a:rPr>
              <a:t>Circuit Breakers, Dead Letter Queues, Monitoring &amp; Logging</a:t>
            </a:r>
            <a:endParaRPr sz="16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8"/>
          <p:cNvSpPr txBox="1"/>
          <p:nvPr>
            <p:ph type="title"/>
          </p:nvPr>
        </p:nvSpPr>
        <p:spPr>
          <a:xfrm>
            <a:off x="311700" y="157000"/>
            <a:ext cx="8520600" cy="40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Scalable System Design </a:t>
            </a:r>
            <a:endParaRPr/>
          </a:p>
        </p:txBody>
      </p:sp>
      <p:sp>
        <p:nvSpPr>
          <p:cNvPr id="370" name="Google Shape;370;p58"/>
          <p:cNvSpPr txBox="1"/>
          <p:nvPr>
            <p:ph idx="1" type="body"/>
          </p:nvPr>
        </p:nvSpPr>
        <p:spPr>
          <a:xfrm>
            <a:off x="311700" y="743150"/>
            <a:ext cx="8520600" cy="44004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SzPts val="1018"/>
              <a:buNone/>
            </a:pPr>
            <a:r>
              <a:rPr lang="en-GB" sz="1580">
                <a:solidFill>
                  <a:schemeClr val="dk1"/>
                </a:solidFill>
              </a:rPr>
              <a:t>Scalability</a:t>
            </a:r>
            <a:r>
              <a:rPr lang="en-GB" sz="1580">
                <a:solidFill>
                  <a:schemeClr val="dk1"/>
                </a:solidFill>
              </a:rPr>
              <a:t> : Ability to handle increasing users, traffic, and data without performance degradation. We cannot achieve it only by doing one step. We have to manage it all over the system </a:t>
            </a:r>
            <a:endParaRPr sz="1580">
              <a:solidFill>
                <a:schemeClr val="dk1"/>
              </a:solidFill>
            </a:endParaRPr>
          </a:p>
          <a:p>
            <a:pPr indent="0" lvl="0" marL="0" rtl="0" algn="l">
              <a:lnSpc>
                <a:spcPct val="95000"/>
              </a:lnSpc>
              <a:spcBef>
                <a:spcPts val="1200"/>
              </a:spcBef>
              <a:spcAft>
                <a:spcPts val="0"/>
              </a:spcAft>
              <a:buSzPts val="1018"/>
              <a:buNone/>
            </a:pPr>
            <a:r>
              <a:rPr lang="en-GB" sz="1580">
                <a:solidFill>
                  <a:schemeClr val="dk1"/>
                </a:solidFill>
              </a:rPr>
              <a:t>Q: When To Scale?</a:t>
            </a:r>
            <a:endParaRPr sz="1580">
              <a:solidFill>
                <a:schemeClr val="dk1"/>
              </a:solidFill>
            </a:endParaRPr>
          </a:p>
          <a:p>
            <a:pPr indent="0" lvl="0" marL="0" rtl="0" algn="l">
              <a:lnSpc>
                <a:spcPct val="95000"/>
              </a:lnSpc>
              <a:spcBef>
                <a:spcPts val="1200"/>
              </a:spcBef>
              <a:spcAft>
                <a:spcPts val="0"/>
              </a:spcAft>
              <a:buSzPts val="1018"/>
              <a:buNone/>
            </a:pPr>
            <a:r>
              <a:rPr lang="en-GB" sz="1580">
                <a:solidFill>
                  <a:schemeClr val="dk1"/>
                </a:solidFill>
              </a:rPr>
              <a:t>Resource Exhaustion (The "Hard" Metrics)</a:t>
            </a:r>
            <a:endParaRPr sz="1580">
              <a:solidFill>
                <a:schemeClr val="dk1"/>
              </a:solidFill>
            </a:endParaRPr>
          </a:p>
          <a:p>
            <a:pPr indent="-298450" lvl="0" marL="457200" rtl="0" algn="l">
              <a:spcBef>
                <a:spcPts val="1200"/>
              </a:spcBef>
              <a:spcAft>
                <a:spcPts val="0"/>
              </a:spcAft>
              <a:buClr>
                <a:schemeClr val="dk1"/>
              </a:buClr>
              <a:buSzPts val="1100"/>
              <a:buChar char="●"/>
            </a:pPr>
            <a:r>
              <a:rPr b="1" lang="en-GB" sz="1100">
                <a:solidFill>
                  <a:schemeClr val="dk1"/>
                </a:solidFill>
              </a:rPr>
              <a:t>CPU Utilization:</a:t>
            </a:r>
            <a:r>
              <a:rPr lang="en-GB" sz="1100">
                <a:solidFill>
                  <a:schemeClr val="dk1"/>
                </a:solidFill>
              </a:rPr>
              <a:t> If your application servers are consistently running above </a:t>
            </a:r>
            <a:r>
              <a:rPr b="1" lang="en-GB" sz="1100">
                <a:solidFill>
                  <a:schemeClr val="dk1"/>
                </a:solidFill>
              </a:rPr>
              <a:t>70-80%</a:t>
            </a:r>
            <a:r>
              <a:rPr lang="en-GB" sz="1100">
                <a:solidFill>
                  <a:schemeClr val="dk1"/>
                </a:solidFill>
              </a:rPr>
              <a:t>, context switching increases, and request processing slows down.</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Memory Pressure:</a:t>
            </a:r>
            <a:r>
              <a:rPr lang="en-GB" sz="1100">
                <a:solidFill>
                  <a:schemeClr val="dk1"/>
                </a:solidFill>
              </a:rPr>
              <a:t> If you see a steady climb in RAM usage or frequent Garbage Collection (GC) pauses (in languages like Java/Go), your nodes are struggling to hold the working set.</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Disk I/O and Network Throughput:</a:t>
            </a:r>
            <a:r>
              <a:rPr lang="en-GB" sz="1100">
                <a:solidFill>
                  <a:schemeClr val="dk1"/>
                </a:solidFill>
              </a:rPr>
              <a:t> If the database can't write logs fast enough or the network bandwidth is saturated, the entire system throttles.</a:t>
            </a:r>
            <a:endParaRPr sz="1100">
              <a:solidFill>
                <a:schemeClr val="dk1"/>
              </a:solidFill>
            </a:endParaRPr>
          </a:p>
          <a:p>
            <a:pPr indent="0" lvl="0" marL="0" rtl="0" algn="l">
              <a:spcBef>
                <a:spcPts val="1200"/>
              </a:spcBef>
              <a:spcAft>
                <a:spcPts val="0"/>
              </a:spcAft>
              <a:buNone/>
            </a:pPr>
            <a:r>
              <a:rPr lang="en-GB" sz="1600">
                <a:solidFill>
                  <a:schemeClr val="dk1"/>
                </a:solidFill>
              </a:rPr>
              <a:t>Performance Degradation (The User Experience)</a:t>
            </a:r>
            <a:endParaRPr sz="1600">
              <a:solidFill>
                <a:schemeClr val="dk1"/>
              </a:solidFill>
            </a:endParaRPr>
          </a:p>
          <a:p>
            <a:pPr indent="-298450" lvl="0" marL="457200" rtl="0" algn="l">
              <a:spcBef>
                <a:spcPts val="1200"/>
              </a:spcBef>
              <a:spcAft>
                <a:spcPts val="0"/>
              </a:spcAft>
              <a:buClr>
                <a:schemeClr val="dk1"/>
              </a:buClr>
              <a:buSzPts val="1100"/>
              <a:buChar char="●"/>
            </a:pPr>
            <a:r>
              <a:rPr b="1" lang="en-GB" sz="1100">
                <a:solidFill>
                  <a:schemeClr val="dk1"/>
                </a:solidFill>
              </a:rPr>
              <a:t>Increased Latency (P99 spikes):</a:t>
            </a:r>
            <a:r>
              <a:rPr lang="en-GB" sz="1100">
                <a:solidFill>
                  <a:schemeClr val="dk1"/>
                </a:solidFill>
              </a:rPr>
              <a:t> If your average response time is 100ms but your </a:t>
            </a:r>
            <a:r>
              <a:rPr b="1" lang="en-GB" sz="1100">
                <a:solidFill>
                  <a:schemeClr val="dk1"/>
                </a:solidFill>
              </a:rPr>
              <a:t>99th percentile</a:t>
            </a:r>
            <a:r>
              <a:rPr lang="en-GB" sz="1100">
                <a:solidFill>
                  <a:schemeClr val="dk1"/>
                </a:solidFill>
              </a:rPr>
              <a:t> jumps to 2 seconds, a subset of your users is having a terrible experience. This often points to thread contention or database bottlenecks.</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Error Rates (HTTP 5xx):</a:t>
            </a:r>
            <a:r>
              <a:rPr lang="en-GB" sz="1100">
                <a:solidFill>
                  <a:schemeClr val="dk1"/>
                </a:solidFill>
              </a:rPr>
              <a:t> A spike in "504 Gateway Timeout" or "503 Service Unavailable" usually means your servers are dropping connections because the request queue is full.</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95000"/>
              </a:lnSpc>
              <a:spcBef>
                <a:spcPts val="1200"/>
              </a:spcBef>
              <a:spcAft>
                <a:spcPts val="0"/>
              </a:spcAft>
              <a:buSzPts val="1018"/>
              <a:buNone/>
            </a:pPr>
            <a:r>
              <a:t/>
            </a:r>
            <a:endParaRPr sz="1580">
              <a:solidFill>
                <a:schemeClr val="dk1"/>
              </a:solidFill>
            </a:endParaRPr>
          </a:p>
          <a:p>
            <a:pPr indent="0" lvl="0" marL="0" rtl="0" algn="l">
              <a:lnSpc>
                <a:spcPct val="95000"/>
              </a:lnSpc>
              <a:spcBef>
                <a:spcPts val="1200"/>
              </a:spcBef>
              <a:spcAft>
                <a:spcPts val="1200"/>
              </a:spcAft>
              <a:buSzPts val="1018"/>
              <a:buNone/>
            </a:pPr>
            <a:r>
              <a:t/>
            </a:r>
            <a:endParaRPr sz="925"/>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9"/>
          <p:cNvSpPr txBox="1"/>
          <p:nvPr>
            <p:ph type="title"/>
          </p:nvPr>
        </p:nvSpPr>
        <p:spPr>
          <a:xfrm>
            <a:off x="311700" y="76625"/>
            <a:ext cx="8520600" cy="507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GB"/>
              <a:t>Scalable System Design </a:t>
            </a:r>
            <a:endParaRPr/>
          </a:p>
        </p:txBody>
      </p:sp>
      <p:sp>
        <p:nvSpPr>
          <p:cNvPr id="376" name="Google Shape;376;p59"/>
          <p:cNvSpPr txBox="1"/>
          <p:nvPr>
            <p:ph idx="1" type="body"/>
          </p:nvPr>
        </p:nvSpPr>
        <p:spPr>
          <a:xfrm>
            <a:off x="311700" y="584225"/>
            <a:ext cx="8520600" cy="4492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Database Bottlenecks:</a:t>
            </a:r>
            <a:endParaRPr/>
          </a:p>
          <a:p>
            <a:pPr indent="0" lvl="0" marL="0" rtl="0" algn="l">
              <a:spcBef>
                <a:spcPts val="1200"/>
              </a:spcBef>
              <a:spcAft>
                <a:spcPts val="0"/>
              </a:spcAft>
              <a:buNone/>
            </a:pPr>
            <a:r>
              <a:rPr b="1" lang="en-GB" sz="1100">
                <a:solidFill>
                  <a:schemeClr val="dk1"/>
                </a:solidFill>
              </a:rPr>
              <a:t>Connection Pool Exhaustion:</a:t>
            </a:r>
            <a:r>
              <a:rPr lang="en-GB" sz="1100">
                <a:solidFill>
                  <a:schemeClr val="dk1"/>
                </a:solidFill>
              </a:rPr>
              <a:t> Your application can't talk to the DB because all available connections are taken.</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Slow Queries:</a:t>
            </a:r>
            <a:r>
              <a:rPr lang="en-GB" sz="1100">
                <a:solidFill>
                  <a:schemeClr val="dk1"/>
                </a:solidFill>
              </a:rPr>
              <a:t> As the dataset grows, indexes might no longer fit in memory (Buffer Pool), causing the DB to hit the disk more often.</a:t>
            </a:r>
            <a:endParaRPr sz="1100">
              <a:solidFill>
                <a:schemeClr val="dk1"/>
              </a:solidFill>
            </a:endParaRPr>
          </a:p>
          <a:p>
            <a:pPr indent="0" lvl="0" marL="0" rtl="0" algn="l">
              <a:spcBef>
                <a:spcPts val="1200"/>
              </a:spcBef>
              <a:spcAft>
                <a:spcPts val="0"/>
              </a:spcAft>
              <a:buNone/>
            </a:pPr>
            <a:r>
              <a:rPr b="1" lang="en-GB" sz="1100">
                <a:solidFill>
                  <a:schemeClr val="dk1"/>
                </a:solidFill>
              </a:rPr>
              <a:t>Lock Contention:</a:t>
            </a:r>
            <a:r>
              <a:rPr lang="en-GB" sz="1100">
                <a:solidFill>
                  <a:schemeClr val="dk1"/>
                </a:solidFill>
              </a:rPr>
              <a:t> Too many processes trying to update the same rows simultaneously (common in high-concurrency systems like inventory management).</a:t>
            </a:r>
            <a:endParaRPr sz="1100">
              <a:solidFill>
                <a:schemeClr val="dk1"/>
              </a:solidFill>
            </a:endParaRPr>
          </a:p>
          <a:p>
            <a:pPr indent="0" lvl="0" marL="0" rtl="0" algn="l">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0"/>
          <p:cNvSpPr txBox="1"/>
          <p:nvPr>
            <p:ph type="title"/>
          </p:nvPr>
        </p:nvSpPr>
        <p:spPr>
          <a:xfrm>
            <a:off x="311700" y="0"/>
            <a:ext cx="8520600" cy="56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Horizontal VS Vertical Scaling </a:t>
            </a:r>
            <a:endParaRPr/>
          </a:p>
        </p:txBody>
      </p:sp>
      <p:sp>
        <p:nvSpPr>
          <p:cNvPr id="382" name="Google Shape;382;p60"/>
          <p:cNvSpPr txBox="1"/>
          <p:nvPr>
            <p:ph idx="1" type="body"/>
          </p:nvPr>
        </p:nvSpPr>
        <p:spPr>
          <a:xfrm>
            <a:off x="311700" y="617550"/>
            <a:ext cx="8520600" cy="4396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83" name="Google Shape;383;p60"/>
          <p:cNvPicPr preferRelativeResize="0"/>
          <p:nvPr/>
        </p:nvPicPr>
        <p:blipFill>
          <a:blip r:embed="rId3">
            <a:alphaModFix/>
          </a:blip>
          <a:stretch>
            <a:fillRect/>
          </a:stretch>
        </p:blipFill>
        <p:spPr>
          <a:xfrm>
            <a:off x="209350" y="706500"/>
            <a:ext cx="6325751" cy="42171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type="title"/>
          </p:nvPr>
        </p:nvSpPr>
        <p:spPr>
          <a:xfrm>
            <a:off x="311700" y="52750"/>
            <a:ext cx="8520600" cy="65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Databases Decisions</a:t>
            </a:r>
            <a:endParaRPr/>
          </a:p>
        </p:txBody>
      </p:sp>
      <p:sp>
        <p:nvSpPr>
          <p:cNvPr id="389" name="Google Shape;389;p61"/>
          <p:cNvSpPr txBox="1"/>
          <p:nvPr>
            <p:ph idx="1" type="body"/>
          </p:nvPr>
        </p:nvSpPr>
        <p:spPr>
          <a:xfrm>
            <a:off x="311700" y="703450"/>
            <a:ext cx="8778000" cy="43731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GB" sz="1700">
                <a:solidFill>
                  <a:schemeClr val="dk1"/>
                </a:solidFill>
              </a:rPr>
              <a:t>1. The Data Model (Shape of the Data)</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How is the data structured, and how does it relate to other data?</a:t>
            </a:r>
            <a:endParaRPr sz="1100">
              <a:solidFill>
                <a:schemeClr val="dk1"/>
              </a:solidFill>
            </a:endParaRPr>
          </a:p>
          <a:p>
            <a:pPr indent="-298450" lvl="0" marL="457200" rtl="0" algn="l">
              <a:spcBef>
                <a:spcPts val="1200"/>
              </a:spcBef>
              <a:spcAft>
                <a:spcPts val="0"/>
              </a:spcAft>
              <a:buClr>
                <a:schemeClr val="dk1"/>
              </a:buClr>
              <a:buSzPts val="1100"/>
              <a:buChar char="●"/>
            </a:pPr>
            <a:r>
              <a:rPr b="1" lang="en-GB" sz="1100">
                <a:solidFill>
                  <a:schemeClr val="dk1"/>
                </a:solidFill>
              </a:rPr>
              <a:t>Relational (SQL):</a:t>
            </a:r>
            <a:r>
              <a:rPr lang="en-GB" sz="1100">
                <a:solidFill>
                  <a:schemeClr val="dk1"/>
                </a:solidFill>
              </a:rPr>
              <a:t> Use this if your data is highly structured and you need complex joins. Perfect for </a:t>
            </a:r>
            <a:r>
              <a:rPr b="1" lang="en-GB" sz="1100">
                <a:solidFill>
                  <a:schemeClr val="dk1"/>
                </a:solidFill>
              </a:rPr>
              <a:t>Payment Systems</a:t>
            </a:r>
            <a:r>
              <a:rPr lang="en-GB" sz="1100">
                <a:solidFill>
                  <a:schemeClr val="dk1"/>
                </a:solidFill>
              </a:rPr>
              <a:t> or </a:t>
            </a:r>
            <a:r>
              <a:rPr b="1" lang="en-GB" sz="1100">
                <a:solidFill>
                  <a:schemeClr val="dk1"/>
                </a:solidFill>
              </a:rPr>
              <a:t>User Profiles</a:t>
            </a:r>
            <a:r>
              <a:rPr lang="en-GB" sz="1100">
                <a:solidFill>
                  <a:schemeClr val="dk1"/>
                </a:solidFill>
              </a:rPr>
              <a:t> where data integrity is non-negotiable.</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Document (NoSQL - MongoDB):</a:t>
            </a:r>
            <a:r>
              <a:rPr lang="en-GB" sz="1100">
                <a:solidFill>
                  <a:schemeClr val="dk1"/>
                </a:solidFill>
              </a:rPr>
              <a:t> Best for unstructured or rapidly evolving schemas (e.g., </a:t>
            </a:r>
            <a:r>
              <a:rPr b="1" lang="en-GB" sz="1100">
                <a:solidFill>
                  <a:schemeClr val="dk1"/>
                </a:solidFill>
              </a:rPr>
              <a:t>Product Catalogs</a:t>
            </a:r>
            <a:r>
              <a:rPr lang="en-GB" sz="1100">
                <a:solidFill>
                  <a:schemeClr val="dk1"/>
                </a:solidFill>
              </a:rPr>
              <a:t> or </a:t>
            </a:r>
            <a:r>
              <a:rPr b="1" lang="en-GB" sz="1100">
                <a:solidFill>
                  <a:schemeClr val="dk1"/>
                </a:solidFill>
              </a:rPr>
              <a:t>User Preferences</a:t>
            </a:r>
            <a:r>
              <a:rPr lang="en-GB" sz="1100">
                <a:solidFill>
                  <a:schemeClr val="dk1"/>
                </a:solidFill>
              </a:rPr>
              <a:t>). It stores data in JSON-like formats.</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Key-Value (Redis/DynamoDB):</a:t>
            </a:r>
            <a:r>
              <a:rPr lang="en-GB" sz="1100">
                <a:solidFill>
                  <a:schemeClr val="dk1"/>
                </a:solidFill>
              </a:rPr>
              <a:t> The simplest form. Use this for </a:t>
            </a:r>
            <a:r>
              <a:rPr b="1" lang="en-GB" sz="1100">
                <a:solidFill>
                  <a:schemeClr val="dk1"/>
                </a:solidFill>
              </a:rPr>
              <a:t>Session Management</a:t>
            </a:r>
            <a:r>
              <a:rPr lang="en-GB" sz="1100">
                <a:solidFill>
                  <a:schemeClr val="dk1"/>
                </a:solidFill>
              </a:rPr>
              <a:t> or </a:t>
            </a:r>
            <a:r>
              <a:rPr b="1" lang="en-GB" sz="1100">
                <a:solidFill>
                  <a:schemeClr val="dk1"/>
                </a:solidFill>
              </a:rPr>
              <a:t>Distributed Caching</a:t>
            </a:r>
            <a:r>
              <a:rPr lang="en-GB" sz="1100">
                <a:solidFill>
                  <a:schemeClr val="dk1"/>
                </a:solidFill>
              </a:rPr>
              <a:t> where you only need to retrieve data by a unique ID.</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Graph (Neo4j):</a:t>
            </a:r>
            <a:r>
              <a:rPr lang="en-GB" sz="1100">
                <a:solidFill>
                  <a:schemeClr val="dk1"/>
                </a:solidFill>
              </a:rPr>
              <a:t> If the </a:t>
            </a:r>
            <a:r>
              <a:rPr i="1" lang="en-GB" sz="1100">
                <a:solidFill>
                  <a:schemeClr val="dk1"/>
                </a:solidFill>
              </a:rPr>
              <a:t>relationship</a:t>
            </a:r>
            <a:r>
              <a:rPr lang="en-GB" sz="1100">
                <a:solidFill>
                  <a:schemeClr val="dk1"/>
                </a:solidFill>
              </a:rPr>
              <a:t> between data points is more important than the data itself (e.g., </a:t>
            </a:r>
            <a:r>
              <a:rPr b="1" lang="en-GB" sz="1100">
                <a:solidFill>
                  <a:schemeClr val="dk1"/>
                </a:solidFill>
              </a:rPr>
              <a:t>Social Networks</a:t>
            </a:r>
            <a:r>
              <a:rPr lang="en-GB" sz="1100">
                <a:solidFill>
                  <a:schemeClr val="dk1"/>
                </a:solidFill>
              </a:rPr>
              <a:t> or </a:t>
            </a:r>
            <a:r>
              <a:rPr b="1" lang="en-GB" sz="1100">
                <a:solidFill>
                  <a:schemeClr val="dk1"/>
                </a:solidFill>
              </a:rPr>
              <a:t>Fraud Detection</a:t>
            </a:r>
            <a:r>
              <a:rPr lang="en-GB" sz="1100">
                <a:solidFill>
                  <a:schemeClr val="dk1"/>
                </a:solidFill>
              </a:rPr>
              <a:t>).</a:t>
            </a:r>
            <a:endParaRPr sz="1100">
              <a:solidFill>
                <a:schemeClr val="dk1"/>
              </a:solidFill>
            </a:endParaRPr>
          </a:p>
          <a:p>
            <a:pPr indent="0" lvl="0" marL="0" rtl="0" algn="l">
              <a:spcBef>
                <a:spcPts val="1200"/>
              </a:spcBef>
              <a:spcAft>
                <a:spcPts val="1200"/>
              </a:spcAft>
              <a:buNone/>
            </a:pPr>
            <a:r>
              <a:t/>
            </a:r>
            <a:endParaRPr/>
          </a:p>
        </p:txBody>
      </p:sp>
      <p:pic>
        <p:nvPicPr>
          <p:cNvPr id="390" name="Google Shape;390;p61"/>
          <p:cNvPicPr preferRelativeResize="0"/>
          <p:nvPr/>
        </p:nvPicPr>
        <p:blipFill>
          <a:blip r:embed="rId3">
            <a:alphaModFix/>
          </a:blip>
          <a:stretch>
            <a:fillRect/>
          </a:stretch>
        </p:blipFill>
        <p:spPr>
          <a:xfrm>
            <a:off x="5804425" y="3095825"/>
            <a:ext cx="1837026" cy="183702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Choose DB</a:t>
            </a:r>
            <a:endParaRPr/>
          </a:p>
        </p:txBody>
      </p:sp>
      <p:sp>
        <p:nvSpPr>
          <p:cNvPr id="396" name="Google Shape;396;p62"/>
          <p:cNvSpPr txBox="1"/>
          <p:nvPr>
            <p:ph idx="1" type="body"/>
          </p:nvPr>
        </p:nvSpPr>
        <p:spPr>
          <a:xfrm>
            <a:off x="311700" y="1152475"/>
            <a:ext cx="8749200" cy="39336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GB" sz="1700">
                <a:solidFill>
                  <a:schemeClr val="dk1"/>
                </a:solidFill>
              </a:rPr>
              <a:t>2. Access Patterns (Read vs. Write)</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Analyze how the system will interact with the data.</a:t>
            </a:r>
            <a:endParaRPr sz="1100">
              <a:solidFill>
                <a:schemeClr val="dk1"/>
              </a:solidFill>
            </a:endParaRPr>
          </a:p>
          <a:p>
            <a:pPr indent="-298450" lvl="0" marL="457200" rtl="0" algn="l">
              <a:spcBef>
                <a:spcPts val="1200"/>
              </a:spcBef>
              <a:spcAft>
                <a:spcPts val="0"/>
              </a:spcAft>
              <a:buClr>
                <a:schemeClr val="dk1"/>
              </a:buClr>
              <a:buSzPts val="1100"/>
              <a:buChar char="●"/>
            </a:pPr>
            <a:r>
              <a:rPr b="1" lang="en-GB" sz="1100">
                <a:solidFill>
                  <a:schemeClr val="dk1"/>
                </a:solidFill>
              </a:rPr>
              <a:t>Read-Heavy:</a:t>
            </a:r>
            <a:r>
              <a:rPr lang="en-GB" sz="1100">
                <a:solidFill>
                  <a:schemeClr val="dk1"/>
                </a:solidFill>
              </a:rPr>
              <a:t> If you have 99% reads and 1% writes (like a </a:t>
            </a:r>
            <a:r>
              <a:rPr b="1" lang="en-GB" sz="1100">
                <a:solidFill>
                  <a:schemeClr val="dk1"/>
                </a:solidFill>
              </a:rPr>
              <a:t>News Feed</a:t>
            </a:r>
            <a:r>
              <a:rPr lang="en-GB" sz="1100">
                <a:solidFill>
                  <a:schemeClr val="dk1"/>
                </a:solidFill>
              </a:rPr>
              <a:t>), prioritize databases with strong caching layers or those that support easy </a:t>
            </a:r>
            <a:r>
              <a:rPr b="1" lang="en-GB" sz="1100">
                <a:solidFill>
                  <a:schemeClr val="dk1"/>
                </a:solidFill>
              </a:rPr>
              <a:t>Read Replicas</a:t>
            </a:r>
            <a:r>
              <a:rPr lang="en-GB"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Write-Heavy:</a:t>
            </a:r>
            <a:r>
              <a:rPr lang="en-GB" sz="1100">
                <a:solidFill>
                  <a:schemeClr val="dk1"/>
                </a:solidFill>
              </a:rPr>
              <a:t> If you are ingesting millions of sensor logs or tracking GPS coordinates for a </a:t>
            </a:r>
            <a:r>
              <a:rPr b="1" lang="en-GB" sz="1100">
                <a:solidFill>
                  <a:schemeClr val="dk1"/>
                </a:solidFill>
              </a:rPr>
              <a:t>Logistics App</a:t>
            </a:r>
            <a:r>
              <a:rPr lang="en-GB" sz="1100">
                <a:solidFill>
                  <a:schemeClr val="dk1"/>
                </a:solidFill>
              </a:rPr>
              <a:t>, use a </a:t>
            </a:r>
            <a:r>
              <a:rPr b="1" lang="en-GB" sz="1100">
                <a:solidFill>
                  <a:schemeClr val="dk1"/>
                </a:solidFill>
              </a:rPr>
              <a:t>LSM-Tree</a:t>
            </a:r>
            <a:r>
              <a:rPr lang="en-GB" sz="1100">
                <a:solidFill>
                  <a:schemeClr val="dk1"/>
                </a:solidFill>
              </a:rPr>
              <a:t> based database like </a:t>
            </a:r>
            <a:r>
              <a:rPr b="1" lang="en-GB" sz="1100">
                <a:solidFill>
                  <a:schemeClr val="dk1"/>
                </a:solidFill>
              </a:rPr>
              <a:t>Cassandra</a:t>
            </a:r>
            <a:r>
              <a:rPr lang="en-GB" sz="1100">
                <a:solidFill>
                  <a:schemeClr val="dk1"/>
                </a:solidFill>
              </a:rPr>
              <a:t> or </a:t>
            </a:r>
            <a:r>
              <a:rPr b="1" lang="en-GB" sz="1100">
                <a:solidFill>
                  <a:schemeClr val="dk1"/>
                </a:solidFill>
              </a:rPr>
              <a:t>ScyllaDB</a:t>
            </a:r>
            <a:r>
              <a:rPr lang="en-GB" sz="1100">
                <a:solidFill>
                  <a:schemeClr val="dk1"/>
                </a:solidFill>
              </a:rPr>
              <a:t> which are optimized for high-speed writes.</a:t>
            </a:r>
            <a:endParaRPr sz="1100">
              <a:solidFill>
                <a:schemeClr val="dk1"/>
              </a:solidFill>
            </a:endParaRPr>
          </a:p>
          <a:p>
            <a:pPr indent="-298450" lvl="0" marL="457200" rtl="0" algn="l">
              <a:spcBef>
                <a:spcPts val="0"/>
              </a:spcBef>
              <a:spcAft>
                <a:spcPts val="0"/>
              </a:spcAft>
              <a:buClr>
                <a:schemeClr val="dk1"/>
              </a:buClr>
              <a:buSzPts val="1100"/>
              <a:buChar char="●"/>
            </a:pPr>
            <a:r>
              <a:rPr b="1" lang="en-GB" sz="1100">
                <a:solidFill>
                  <a:schemeClr val="dk1"/>
                </a:solidFill>
              </a:rPr>
              <a:t>Search-Heavy:</a:t>
            </a:r>
            <a:r>
              <a:rPr lang="en-GB" sz="1100">
                <a:solidFill>
                  <a:schemeClr val="dk1"/>
                </a:solidFill>
              </a:rPr>
              <a:t> If users need to search by text, fuzzy matching, or multiple filters (like an </a:t>
            </a:r>
            <a:r>
              <a:rPr b="1" lang="en-GB" sz="1100">
                <a:solidFill>
                  <a:schemeClr val="dk1"/>
                </a:solidFill>
              </a:rPr>
              <a:t>E-commerce Search</a:t>
            </a:r>
            <a:r>
              <a:rPr lang="en-GB" sz="1100">
                <a:solidFill>
                  <a:schemeClr val="dk1"/>
                </a:solidFill>
              </a:rPr>
              <a:t>), offload this to a search engine like </a:t>
            </a:r>
            <a:r>
              <a:rPr b="1" lang="en-GB" sz="1100">
                <a:solidFill>
                  <a:schemeClr val="dk1"/>
                </a:solidFill>
              </a:rPr>
              <a:t>Elasticsearch</a:t>
            </a:r>
            <a:r>
              <a:rPr lang="en-GB" sz="1100">
                <a:solidFill>
                  <a:schemeClr val="dk1"/>
                </a:solidFill>
              </a:rPr>
              <a:t>.</a:t>
            </a:r>
            <a:endParaRPr sz="1100">
              <a:solidFill>
                <a:schemeClr val="dk1"/>
              </a:solidFill>
            </a:endParaRPr>
          </a:p>
          <a:p>
            <a:pPr indent="0" lvl="0" marL="0" rtl="0" algn="l">
              <a:spcBef>
                <a:spcPts val="1200"/>
              </a:spcBef>
              <a:spcAft>
                <a:spcPts val="1200"/>
              </a:spcAft>
              <a:buNone/>
            </a:pPr>
            <a:r>
              <a:t/>
            </a:r>
            <a:endParaRPr/>
          </a:p>
        </p:txBody>
      </p:sp>
      <p:pic>
        <p:nvPicPr>
          <p:cNvPr id="397" name="Google Shape;397;p62" title="Screenshot 2026-04-10 at 10.33.39 PM.png"/>
          <p:cNvPicPr preferRelativeResize="0"/>
          <p:nvPr/>
        </p:nvPicPr>
        <p:blipFill>
          <a:blip r:embed="rId3">
            <a:alphaModFix/>
          </a:blip>
          <a:stretch>
            <a:fillRect/>
          </a:stretch>
        </p:blipFill>
        <p:spPr>
          <a:xfrm>
            <a:off x="1258125" y="3333200"/>
            <a:ext cx="6474699" cy="15319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3"/>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Important Terminologies</a:t>
            </a:r>
            <a:endParaRPr/>
          </a:p>
        </p:txBody>
      </p:sp>
      <p:sp>
        <p:nvSpPr>
          <p:cNvPr id="403" name="Google Shape;403;p63"/>
          <p:cNvSpPr txBox="1"/>
          <p:nvPr>
            <p:ph idx="1" type="body"/>
          </p:nvPr>
        </p:nvSpPr>
        <p:spPr>
          <a:xfrm>
            <a:off x="60800" y="455975"/>
            <a:ext cx="8771400" cy="4687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04" name="Google Shape;404;p63"/>
          <p:cNvPicPr preferRelativeResize="0"/>
          <p:nvPr/>
        </p:nvPicPr>
        <p:blipFill>
          <a:blip r:embed="rId3">
            <a:alphaModFix/>
          </a:blip>
          <a:stretch>
            <a:fillRect/>
          </a:stretch>
        </p:blipFill>
        <p:spPr>
          <a:xfrm>
            <a:off x="111475" y="572700"/>
            <a:ext cx="6423299" cy="428219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Builder Design Pattern </a:t>
            </a:r>
            <a:endParaRPr/>
          </a:p>
        </p:txBody>
      </p:sp>
      <p:sp>
        <p:nvSpPr>
          <p:cNvPr id="410" name="Google Shape;410;p64"/>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sz="1100">
                <a:solidFill>
                  <a:schemeClr val="dk1"/>
                </a:solidFill>
              </a:rPr>
              <a:t>The </a:t>
            </a:r>
            <a:r>
              <a:rPr b="1" lang="en-GB" sz="1100">
                <a:solidFill>
                  <a:schemeClr val="dk1"/>
                </a:solidFill>
              </a:rPr>
              <a:t>Builder Design Pattern</a:t>
            </a:r>
            <a:r>
              <a:rPr lang="en-GB" sz="1100">
                <a:solidFill>
                  <a:schemeClr val="dk1"/>
                </a:solidFill>
              </a:rPr>
              <a:t> is a creational pattern used to construct complex objects step-by-step. It separates the </a:t>
            </a:r>
            <a:r>
              <a:rPr b="1" lang="en-GB" sz="1100">
                <a:solidFill>
                  <a:schemeClr val="dk1"/>
                </a:solidFill>
              </a:rPr>
              <a:t>construction</a:t>
            </a:r>
            <a:r>
              <a:rPr lang="en-GB" sz="1100">
                <a:solidFill>
                  <a:schemeClr val="dk1"/>
                </a:solidFill>
              </a:rPr>
              <a:t> of an object from its </a:t>
            </a:r>
            <a:r>
              <a:rPr b="1" lang="en-GB" sz="1100">
                <a:solidFill>
                  <a:schemeClr val="dk1"/>
                </a:solidFill>
              </a:rPr>
              <a:t>representation</a:t>
            </a:r>
            <a:r>
              <a:rPr lang="en-GB" sz="1100">
                <a:solidFill>
                  <a:schemeClr val="dk1"/>
                </a:solidFill>
              </a:rPr>
              <a:t>, allowing you to create different flavors or configurations of an object using the same building process.</a:t>
            </a:r>
            <a:endParaRPr sz="1100">
              <a:solidFill>
                <a:schemeClr val="dk1"/>
              </a:solidFill>
            </a:endParaRPr>
          </a:p>
          <a:p>
            <a:pPr indent="0" lvl="0" marL="0" rtl="0" algn="l">
              <a:spcBef>
                <a:spcPts val="0"/>
              </a:spcBef>
              <a:spcAft>
                <a:spcPts val="1200"/>
              </a:spcAft>
              <a:buNone/>
            </a:pPr>
            <a:r>
              <a:t/>
            </a:r>
            <a:endParaRPr/>
          </a:p>
        </p:txBody>
      </p:sp>
      <p:pic>
        <p:nvPicPr>
          <p:cNvPr id="411" name="Google Shape;411;p64"/>
          <p:cNvPicPr preferRelativeResize="0"/>
          <p:nvPr/>
        </p:nvPicPr>
        <p:blipFill>
          <a:blip r:embed="rId3">
            <a:alphaModFix/>
          </a:blip>
          <a:stretch>
            <a:fillRect/>
          </a:stretch>
        </p:blipFill>
        <p:spPr>
          <a:xfrm>
            <a:off x="1988520" y="1791100"/>
            <a:ext cx="2842752" cy="3247027"/>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5" name="Shape 415"/>
        <p:cNvGrpSpPr/>
        <p:nvPr/>
      </p:nvGrpSpPr>
      <p:grpSpPr>
        <a:xfrm>
          <a:off x="0" y="0"/>
          <a:ext cx="0" cy="0"/>
          <a:chOff x="0" y="0"/>
          <a:chExt cx="0" cy="0"/>
        </a:xfrm>
      </p:grpSpPr>
      <p:sp>
        <p:nvSpPr>
          <p:cNvPr id="416" name="Google Shape;416;p65"/>
          <p:cNvSpPr txBox="1"/>
          <p:nvPr/>
        </p:nvSpPr>
        <p:spPr>
          <a:xfrm>
            <a:off x="356800" y="707800"/>
            <a:ext cx="7525800" cy="3505200"/>
          </a:xfrm>
          <a:prstGeom prst="rect">
            <a:avLst/>
          </a:prstGeom>
          <a:noFill/>
          <a:ln>
            <a:noFill/>
          </a:ln>
        </p:spPr>
        <p:txBody>
          <a:bodyPr anchorCtr="0" anchor="ctr" bIns="91425" lIns="91425" spcFirstLastPara="1" rIns="91425" wrap="square" tIns="91425">
            <a:noAutofit/>
          </a:bodyPr>
          <a:lstStyle/>
          <a:p>
            <a:pPr indent="0" lvl="0" marL="0" rtl="0" algn="ctr">
              <a:lnSpc>
                <a:spcPct val="150000"/>
              </a:lnSpc>
              <a:spcBef>
                <a:spcPts val="100"/>
              </a:spcBef>
              <a:spcAft>
                <a:spcPts val="100"/>
              </a:spcAft>
              <a:buNone/>
            </a:pPr>
            <a:r>
              <a:rPr b="1" lang="en-GB" sz="3000">
                <a:latin typeface="Helvetica Neue"/>
                <a:ea typeface="Helvetica Neue"/>
                <a:cs typeface="Helvetica Neue"/>
                <a:sym typeface="Helvetica Neue"/>
              </a:rPr>
              <a:t>Questions?</a:t>
            </a:r>
            <a:endParaRPr sz="3000">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0" name="Shape 42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