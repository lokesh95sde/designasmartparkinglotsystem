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fRMYvKzZ6vYv87fPASmWUk4Gb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42C83C-5E7F-48D0-846A-2BD27A124535}">
  <a:tblStyle styleId="{5D42C83C-5E7F-48D0-846A-2BD27A1245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sakshamarora9575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00000" y="100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Building AI Agents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500000" y="1550000"/>
            <a:ext cx="75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Long-Term Memory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500000" y="2250000"/>
            <a:ext cx="75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Masterclass — Live Build with Mem0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530000" y="350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Saksham Arora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30000" y="3750000"/>
            <a:ext cx="517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Software Engineer II @ Intuit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 - Software Engineer @ Microsoft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https://www.linkedin.com/in/sakshamarora9575/</a:t>
            </a: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Problem — AI With No Memory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4572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46B08"/>
                </a:solidFill>
                <a:latin typeface="Verdana"/>
                <a:ea typeface="Verdana"/>
                <a:cs typeface="Verdana"/>
                <a:sym typeface="Verdana"/>
              </a:rPr>
              <a:t>Monday: You talk to a chatbot</a:t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457200" y="1350000"/>
            <a:ext cx="38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You: "Hi, I'm Saksham. I prefer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vegetarian food and I'm allergic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to peanuts."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Bot: "Got it, Saksham!"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You: "Suggest a dinner spot."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Bot: "Try the new peanut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satay place — great chicken!"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(Bot already forgot.)</a:t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48000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Tuesday: You talk to it again</a:t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4800000" y="1350000"/>
            <a:ext cx="38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You: "Hey, suggest a dinner spot."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Bot: "Sure! What's your name?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Any food preferences? Allergies?"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You re-type everything.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Every. Single. Time.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This is what 99% of AI apps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feel like today.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Users hate it. We can fix it.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Does the AI Forget?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Every time you talk to an LLM (ChatGPT, Claude, Gemini)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it sees ONLY what's in its 'context window' for that call.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📝 Context window = the text you send to the model right now.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It's like a scratchpad. New conversation = blank scratchpad.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Analogy: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Imagine a brilliant consultant who has total amnesia between meetings.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Every Monday morning you walk in and re-explain your whole business.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That's the LLM by default. Smart, but no memory.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C0392B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To make AI actually feel intelligent across time — we need a memory layer.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Kinds of Memory — Both Needed</a:t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4572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Short-Term Memory</a:t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457200" y="1350000"/>
            <a:ext cx="38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What the AI remembers during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ONE conversation.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The last few messages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The current task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Tool results from this session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Lives inside the LLM's context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window. Wiped when you close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 chat.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Analogy: A whiteboard in 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meeting room. Useful during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 meeting. Erased after.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48000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Long-Term Memory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4800000" y="1350000"/>
            <a:ext cx="38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What the AI remembers ACROSS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many conversations — days, weeks,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months later.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Your name, preferences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Past decisions and outcomes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Patterns it has learned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Lives in a database OUTSIDE the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LLM. Survives sessions.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Analogy: A filing cabinet.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Open it any day, the files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are still there.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/>
        </p:nvSpPr>
        <p:spPr>
          <a:xfrm>
            <a:off x="457200" y="15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In Apps You Already Use</a:t>
            </a:r>
            <a:endParaRPr/>
          </a:p>
        </p:txBody>
      </p:sp>
      <p:sp>
        <p:nvSpPr>
          <p:cNvPr id="118" name="Google Shape;118;p6"/>
          <p:cNvSpPr txBox="1"/>
          <p:nvPr/>
        </p:nvSpPr>
        <p:spPr>
          <a:xfrm>
            <a:off x="5715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You expect these products to remember you. Why should your AI agent be different?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100000"/>
            <a:ext cx="3900000" cy="950000"/>
          </a:xfrm>
          <a:prstGeom prst="roundRect">
            <a:avLst>
              <a:gd fmla="val 16667" name="adj"/>
            </a:avLst>
          </a:prstGeom>
          <a:solidFill>
            <a:srgbClr val="05A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🎵 Spotify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Knows you love lo-fi at night,</a:t>
            </a:r>
            <a:b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hip-hop in the gym — remembers across years</a:t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657200" y="1100000"/>
            <a:ext cx="3900000" cy="95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🛍️ Amazon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Remembers your sizes, addresses,</a:t>
            </a:r>
            <a:b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favorite brands — zero re-typing</a:t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57200" y="2400000"/>
            <a:ext cx="3900000" cy="95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🎬 Netflix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Builds a profile of what you watched,</a:t>
            </a:r>
            <a:b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what you skipped, what you re-watched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657200" y="2400000"/>
            <a:ext cx="3900000" cy="950000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✨ ChatGPT (with Memory)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Started rolling out memory in 2024 —</a:t>
            </a:r>
            <a:b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1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feels dramatically more useful</a:t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571500" y="38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Adding memory turns a generic AI tool into something that feels like 'your' AI.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Quick Recap — What Is an AI Agent?</a:t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An AI agent = LLM + Tools + a Loop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683FBE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🧠  LLM — the brain that decides what to do next.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🔧  Tools — functions the brain can call (search, send email, query DB).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🔁  Loop — the agent keeps thinking &amp; acting until the job is done.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In code, it looks like this (and that's basically it):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    while not done: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        decision = llm.decide(user_input, history)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        if decision is 'use a tool':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            result = call_tool(decision)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        else: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            done =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05A98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Today we add one more thing: MEMORY. A tool that remembers across runs.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457200" y="15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Memory Fits In the Agent Loop</a:t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00000" y="1100000"/>
            <a:ext cx="1700000" cy="900000"/>
          </a:xfrm>
          <a:prstGeom prst="roundRect">
            <a:avLst>
              <a:gd fmla="val 16667" name="adj"/>
            </a:avLst>
          </a:prstGeom>
          <a:solidFill>
            <a:srgbClr val="05A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User Asks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Question or task</a:t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2200000" y="1100000"/>
            <a:ext cx="1700000" cy="90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Recall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Look up past facts</a:t>
            </a:r>
            <a:b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from memory</a:t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4100000" y="1100000"/>
            <a:ext cx="1700000" cy="90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Think + Act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LLM uses tools,</a:t>
            </a:r>
            <a:b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reasons</a:t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6000000" y="1100000"/>
            <a:ext cx="1700000" cy="900000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Save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Store new facts</a:t>
            </a:r>
            <a:b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back to memory</a:t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7900000" y="1100000"/>
            <a:ext cx="1011300" cy="900000"/>
          </a:xfrm>
          <a:prstGeom prst="roundRect">
            <a:avLst>
              <a:gd fmla="val 16667" name="adj"/>
            </a:avLst>
          </a:prstGeom>
          <a:solidFill>
            <a:srgbClr val="05A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Reply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Personalized</a:t>
            </a:r>
            <a:b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9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response</a:t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2010000" y="1480000"/>
            <a:ext cx="180000" cy="80000"/>
          </a:xfrm>
          <a:prstGeom prst="can">
            <a:avLst>
              <a:gd fmla="val 25000" name="adj"/>
            </a:avLst>
          </a:prstGeom>
          <a:solidFill>
            <a:srgbClr val="3333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910000" y="1480000"/>
            <a:ext cx="180000" cy="80000"/>
          </a:xfrm>
          <a:prstGeom prst="can">
            <a:avLst>
              <a:gd fmla="val 25000" name="adj"/>
            </a:avLst>
          </a:prstGeom>
          <a:solidFill>
            <a:srgbClr val="3333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810000" y="1480000"/>
            <a:ext cx="180000" cy="80000"/>
          </a:xfrm>
          <a:prstGeom prst="can">
            <a:avLst>
              <a:gd fmla="val 25000" name="adj"/>
            </a:avLst>
          </a:prstGeom>
          <a:solidFill>
            <a:srgbClr val="3333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710000" y="1480000"/>
            <a:ext cx="180000" cy="80000"/>
          </a:xfrm>
          <a:prstGeom prst="can">
            <a:avLst>
              <a:gd fmla="val 25000" name="adj"/>
            </a:avLst>
          </a:prstGeom>
          <a:solidFill>
            <a:srgbClr val="3333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571500" y="22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Steps 2 and 4 are the new bits we add today — the 'memory layer'.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571500" y="2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Before the LLM thinks, RECALL relevant past facts and put them in the prompt.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571500" y="29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After the LLM responds, SAVE anything new and useful so we can recall it later.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571500" y="34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That's it. Memory is just two extra calls in your agent loop — recall before, save after.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Meet Mem0 — The Memory Layer for AI</a:t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571500" y="1050000"/>
            <a:ext cx="8000000" cy="3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Mem0 is an open-source Python library that handles long-term memory for AI agents.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It does three things for you: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①  Takes any text (a conversation, a sentence) and extracts the important facts.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②  Stores those facts in a vector database so they can be searched by meaning.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③  When you ask, returns the most relevant facts for the current question.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Analogy: Mem0 is a smart assistant who follows you around with a notebook.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It writes down important things you say, and quietly hands you the right note at the right time.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46B08"/>
                </a:solidFill>
                <a:latin typeface="Verdana"/>
                <a:ea typeface="Verdana"/>
                <a:cs typeface="Verdana"/>
                <a:sym typeface="Verdana"/>
              </a:rPr>
              <a:t>Install in one line:    pip install mem0ai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Backed by: OpenAI for fact extraction + a vector DB (Chroma, Qdrant, etc.) for storage.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9595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You don't have to understand vector DBs to use it — Mem0 hides all that complexity.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/>
        </p:nvSpPr>
        <p:spPr>
          <a:xfrm>
            <a:off x="457200" y="15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Mem0 — Three Methods, One Mental Model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457200" y="750000"/>
            <a:ext cx="180000" cy="1000000"/>
          </a:xfrm>
          <a:prstGeom prst="roundRect">
            <a:avLst>
              <a:gd fmla="val 16667" name="adj"/>
            </a:avLst>
          </a:prstGeom>
          <a:solidFill>
            <a:srgbClr val="05A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720000" y="750000"/>
            <a:ext cx="38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✍️  add(text, user_id)</a:t>
            </a:r>
            <a:endParaRPr/>
          </a:p>
        </p:txBody>
      </p:sp>
      <p:sp>
        <p:nvSpPr>
          <p:cNvPr id="161" name="Google Shape;161;p10"/>
          <p:cNvSpPr txBox="1"/>
          <p:nvPr/>
        </p:nvSpPr>
        <p:spPr>
          <a:xfrm>
            <a:off x="720000" y="1080000"/>
            <a:ext cx="38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Save something to memory.</a:t>
            </a:r>
            <a:b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m.add("I prefer vegetarian food",</a:t>
            </a:r>
            <a:b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user_id="saksham")</a:t>
            </a: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4900000" y="800000"/>
            <a:ext cx="38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Like jotting a sticky note.</a:t>
            </a:r>
            <a:b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Mem0 figures out what's worth saving.</a:t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457200" y="1850000"/>
            <a:ext cx="180000" cy="100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720000" y="1850000"/>
            <a:ext cx="38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🔍  search(query, user_id)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720000" y="2180000"/>
            <a:ext cx="38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Find relevant memories by meaning.</a:t>
            </a:r>
            <a:b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m.search("food preferences",</a:t>
            </a:r>
            <a:b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user_id="saksham")</a:t>
            </a:r>
            <a:endParaRPr/>
          </a:p>
        </p:txBody>
      </p:sp>
      <p:sp>
        <p:nvSpPr>
          <p:cNvPr id="166" name="Google Shape;166;p10"/>
          <p:cNvSpPr txBox="1"/>
          <p:nvPr/>
        </p:nvSpPr>
        <p:spPr>
          <a:xfrm>
            <a:off x="4900000" y="1900000"/>
            <a:ext cx="38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Like asking the assistant:</a:t>
            </a:r>
            <a:b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'Do we know anything about this?'</a:t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457200" y="2950000"/>
            <a:ext cx="180000" cy="100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720000" y="2950000"/>
            <a:ext cx="38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D46B0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📋  get_all(user_id)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720000" y="3280000"/>
            <a:ext cx="38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List everything Mem0 has stored.</a:t>
            </a:r>
            <a:b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m.get_all(user_id="saksham")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4900000" y="3000000"/>
            <a:ext cx="38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Useful for debugging — 'what does</a:t>
            </a:r>
            <a:b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 AI actually remember about me?'</a:t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571500" y="42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That's the whole API. You add facts, you search facts. Mem0 does the rest.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/>
        </p:nvSpPr>
        <p:spPr>
          <a:xfrm>
            <a:off x="457200" y="15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Mem0 Works Under the Hood</a:t>
            </a:r>
            <a:endParaRPr/>
          </a:p>
        </p:txBody>
      </p:sp>
      <p:sp>
        <p:nvSpPr>
          <p:cNvPr id="177" name="Google Shape;177;p11"/>
          <p:cNvSpPr txBox="1"/>
          <p:nvPr/>
        </p:nvSpPr>
        <p:spPr>
          <a:xfrm>
            <a:off x="5715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You don't need this to USE Mem0 — but it helps to know what's happening.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300000" y="1100000"/>
            <a:ext cx="1700000" cy="8000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You call: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m.add(text)</a:t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2200000" y="1100000"/>
            <a:ext cx="1700000" cy="800000"/>
          </a:xfrm>
          <a:prstGeom prst="roundRect">
            <a:avLst>
              <a:gd fmla="val 16667" name="adj"/>
            </a:avLst>
          </a:prstGeom>
          <a:solidFill>
            <a:srgbClr val="683FB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LLM extracts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FACTS</a:t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4100000" y="1100000"/>
            <a:ext cx="1700000" cy="800000"/>
          </a:xfrm>
          <a:prstGeom prst="roundRect">
            <a:avLst>
              <a:gd fmla="val 16667" name="adj"/>
            </a:avLst>
          </a:prstGeom>
          <a:solidFill>
            <a:srgbClr val="D46B0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Facts converted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to embeddings</a:t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6000000" y="1100000"/>
            <a:ext cx="1700000" cy="800000"/>
          </a:xfrm>
          <a:prstGeom prst="roundRect">
            <a:avLst>
              <a:gd fmla="val 16667" name="adj"/>
            </a:avLst>
          </a:prstGeom>
          <a:solidFill>
            <a:srgbClr val="2E86C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Stored in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vector DB</a:t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7900000" y="1100000"/>
            <a:ext cx="1700000" cy="800000"/>
          </a:xfrm>
          <a:prstGeom prst="roundRect">
            <a:avLst>
              <a:gd fmla="val 16667" name="adj"/>
            </a:avLst>
          </a:prstGeom>
          <a:solidFill>
            <a:srgbClr val="05A98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Ready to</a:t>
            </a:r>
            <a:b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search later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457200" y="2150000"/>
            <a:ext cx="84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Example: You feed in —  "Had a great call with Saksham today. He likes lo-fi music and works in fintech."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571500" y="25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83FBE"/>
                </a:solidFill>
                <a:latin typeface="Verdana"/>
                <a:ea typeface="Verdana"/>
                <a:cs typeface="Verdana"/>
                <a:sym typeface="Verdana"/>
              </a:rPr>
              <a:t>Mem0 extracts:    • User likes lo-fi music     • User works in fintech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571500" y="28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(It throws away the chitchat — only durable facts get stored.)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571500" y="325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Later, you ask  search("music taste")  →  Mem0 returns the lo-fi fact (by meaning, not exact words).</a:t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571500" y="3650000"/>
            <a:ext cx="85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95959"/>
                </a:solidFill>
                <a:latin typeface="Verdana"/>
                <a:ea typeface="Verdana"/>
                <a:cs typeface="Verdana"/>
                <a:sym typeface="Verdana"/>
              </a:rPr>
              <a:t>Why a vector DB? Because we want "music taste" to match "lo-fi music" — same idea, different words.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Before vs After — An Agent With Memory</a:t>
            </a:r>
            <a:endParaRPr/>
          </a:p>
        </p:txBody>
      </p:sp>
      <p:sp>
        <p:nvSpPr>
          <p:cNvPr id="193" name="Google Shape;193;p12"/>
          <p:cNvSpPr txBox="1"/>
          <p:nvPr/>
        </p:nvSpPr>
        <p:spPr>
          <a:xfrm>
            <a:off x="4572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Without Mem0 (Run 2)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457200" y="1350000"/>
            <a:ext cx="38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User: 'Recommend a restaurant.'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Agent: 'Sure! What's your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name? Any dietary preferences?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Allergies? Budget? Cuisine?'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User: ... sighs, re-types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everything again.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Feels like every Uber driver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asking you where you want to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go, even though they just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dropped you home yesterday.</a:t>
            </a:r>
            <a:endParaRPr/>
          </a:p>
        </p:txBody>
      </p:sp>
      <p:sp>
        <p:nvSpPr>
          <p:cNvPr id="195" name="Google Shape;195;p12"/>
          <p:cNvSpPr txBox="1"/>
          <p:nvPr/>
        </p:nvSpPr>
        <p:spPr>
          <a:xfrm>
            <a:off x="48000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With Mem0 (Run 2)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4800000" y="1350000"/>
            <a:ext cx="38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User: 'Recommend a restaurant.'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Agent silently runs: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m.search('food preferences',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        user_id='saksham')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→ returns: vegetarian,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peanut allergy, loves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   South Indian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Agent: 'Saksham, there's 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great peanut-free South Indian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place 2 km from your office.'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Feels like a friend who knows you.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Store — and What Not To</a:t>
            </a:r>
            <a:endParaRPr/>
          </a:p>
        </p:txBody>
      </p:sp>
      <p:sp>
        <p:nvSpPr>
          <p:cNvPr id="202" name="Google Shape;202;p13"/>
          <p:cNvSpPr txBox="1"/>
          <p:nvPr/>
        </p:nvSpPr>
        <p:spPr>
          <a:xfrm>
            <a:off x="4572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✅  Good Memory Material</a:t>
            </a:r>
            <a:endParaRPr/>
          </a:p>
        </p:txBody>
      </p:sp>
      <p:sp>
        <p:nvSpPr>
          <p:cNvPr id="203" name="Google Shape;203;p13"/>
          <p:cNvSpPr txBox="1"/>
          <p:nvPr/>
        </p:nvSpPr>
        <p:spPr>
          <a:xfrm>
            <a:off x="457200" y="1350000"/>
            <a:ext cx="38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Stable user preferences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e.g. 'prefers Hindi over English'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Important facts about the user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e.g. 'works at TCS, location Pune'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Past decisions and outcomes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e.g. 'tried policy X, didn't work'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Recurring goals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e.g. 'wants to learn AI'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Things that should survive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across many conversations.</a:t>
            </a:r>
            <a:endParaRPr/>
          </a:p>
        </p:txBody>
      </p:sp>
      <p:sp>
        <p:nvSpPr>
          <p:cNvPr id="204" name="Google Shape;204;p13"/>
          <p:cNvSpPr txBox="1"/>
          <p:nvPr/>
        </p:nvSpPr>
        <p:spPr>
          <a:xfrm>
            <a:off x="4800000" y="950000"/>
            <a:ext cx="38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0392B"/>
                </a:solidFill>
                <a:latin typeface="Verdana"/>
                <a:ea typeface="Verdana"/>
                <a:cs typeface="Verdana"/>
                <a:sym typeface="Verdana"/>
              </a:rPr>
              <a:t>❌  Don't Store In Mem0</a:t>
            </a:r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4800000" y="1350000"/>
            <a:ext cx="3800000" cy="3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Tiny session-level details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e.g. 'just opened a new tab'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Sensitive data without consent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e.g. passwords, card numbers, OTPs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Huge document content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use RAG (vector DB) for that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Fast-changing data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e.g. stock prices, weather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  use a tool/API call instead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Stuff that will be wrong tomorrow.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/>
          <p:nvPr/>
        </p:nvSpPr>
        <p:spPr>
          <a:xfrm>
            <a:off x="457200" y="15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Mem0 vs Context Window vs RAG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5715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Three different tools. Pick the right one for the job.</a:t>
            </a:r>
            <a:endParaRPr/>
          </a:p>
        </p:txBody>
      </p:sp>
      <p:graphicFrame>
        <p:nvGraphicFramePr>
          <p:cNvPr id="212" name="Google Shape;212;p14"/>
          <p:cNvGraphicFramePr/>
          <p:nvPr/>
        </p:nvGraphicFramePr>
        <p:xfrm>
          <a:off x="350000" y="11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{5D42C83C-5E7F-48D0-846A-2BD27A124535}</a:tableStyleId>
              </a:tblPr>
              <a:tblGrid>
                <a:gridCol w="2816675"/>
                <a:gridCol w="2816675"/>
                <a:gridCol w="2816675"/>
              </a:tblGrid>
              <a:tr h="55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Stores What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683FBE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Context Window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Current conversation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Short chats; quick tasks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Mem0 (Memory)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Durable facts about a user/agent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Personalization across sessions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6FC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RAG (Vector DB)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Big static knowledge — docs, PDFs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44444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'Answer from our company manual'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14"/>
          <p:cNvSpPr txBox="1"/>
          <p:nvPr/>
        </p:nvSpPr>
        <p:spPr>
          <a:xfrm>
            <a:off x="571500" y="35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Rule of thumb:</a:t>
            </a:r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571500" y="38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5A98A"/>
                </a:solidFill>
                <a:latin typeface="Verdana"/>
                <a:ea typeface="Verdana"/>
                <a:cs typeface="Verdana"/>
                <a:sym typeface="Verdana"/>
              </a:rPr>
              <a:t>Want the AI to know YOU?  →  Mem0.   Want it to know your DOCS?  →  RAG.</a:t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571500" y="41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In real apps you usually use both: RAG for knowledge, Mem0 for personalization.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392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Things to Think About Before Going to Production</a:t>
            </a:r>
            <a:endParaRPr/>
          </a:p>
        </p:txBody>
      </p:sp>
      <p:sp>
        <p:nvSpPr>
          <p:cNvPr id="221" name="Google Shape;221;p15"/>
          <p:cNvSpPr txBox="1"/>
          <p:nvPr/>
        </p:nvSpPr>
        <p:spPr>
          <a:xfrm>
            <a:off x="537325" y="1093975"/>
            <a:ext cx="80001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①  Privacy &amp; PII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Never blindly store everything. Strip credit cards, OTPs, health data unless you must.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GDPR / DPDP say users can ask to be forgotten — you need a 'delete memory' path.</a:t>
            </a:r>
            <a:endParaRPr b="0" sz="10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②  Cost — Mem0 calls an LLM every time you add a memory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That's how it extracts facts. Each .add() is ~one cheap LLM call.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Don't store every chat message. Store only meaningful turns.</a:t>
            </a:r>
            <a:endParaRPr b="0" sz="10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③  Stale memory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'User lives in Pune' may have been true last year, not today.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Add timestamps and refresh; let users edit their own memory list.</a:t>
            </a:r>
            <a:endParaRPr b="0" sz="10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④  Memory leakage between users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ALWAYS pass user_id. Two users sharing the same Mem0 store = data leak bug.</a:t>
            </a:r>
            <a:endParaRPr b="0" sz="10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⑤  Debuggability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When the agent does something weird, the first question is: 'what did it remember?'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Build a small UI or log to dump m.get_all(user_id=...) on demand.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Takeaways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571500" y="1000000"/>
            <a:ext cx="80001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①  LLMs forget between conversations — by design.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Context window = scratchpad. To feel intelligent over time, AI needs a memory layer.</a:t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②  Two kinds of memory: short-term (context) and long-term (persistent).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Whiteboard vs filing cabinet. You need both.</a:t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③  An AI agent = LLM + Tools + Loop. Memory is two extra calls in that loop.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RECALL before the LLM thinks. SAVE after the LLM responds. That's it.</a:t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④  Mem0 is the easiest way to add memory. Three methods: add, search, get_all.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• It handles fact extraction and vector storage so you don't have to.</a:t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⑤  Mem0 ≠ RAG. Mem0 is for personalization. RAG is for knowledge.</a:t>
            </a:r>
            <a:endParaRPr b="1" sz="1400">
              <a:solidFill>
                <a:srgbClr val="33333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3333"/>
                </a:solidFill>
                <a:latin typeface="Verdana"/>
                <a:ea typeface="Verdana"/>
                <a:cs typeface="Verdana"/>
                <a:sym typeface="Verdana"/>
              </a:rPr>
              <a:t>⑥  In production: watch out for PII, costs, stale facts, and per-user isolation.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/>
        </p:nvSpPr>
        <p:spPr>
          <a:xfrm>
            <a:off x="457200" y="80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683FB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What's Next — Let's Build It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457200" y="140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Hands-on: A Python agent that remembers you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571500" y="2100000"/>
            <a:ext cx="8000000" cy="2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We'll write a small Python agent in plain code — no frameworks.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①  Install mem0 + openai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②  Build a toy agent that remembers your name across two runs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③  Extend it into a 'review pulse' agent that remembers past weeks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444444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By the end, you'll see the magic moment: the SECOND run.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444444"/>
                </a:solidFill>
                <a:latin typeface="Verdana"/>
                <a:ea typeface="Verdana"/>
                <a:cs typeface="Verdana"/>
                <a:sym typeface="Verdana"/>
              </a:rPr>
              <a:t>The agent will know things from the first run — because it remembers.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